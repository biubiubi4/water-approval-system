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1" r:id="rId26"/>
    <p:sldId id="279" r:id="rId27"/>
    <p:sldId id="278" r:id="rId28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0" d="100"/>
          <a:sy n="70" d="100"/>
        </p:scale>
        <p:origin x="-1212" y="-108"/>
      </p:cViewPr>
      <p:guideLst>
        <p:guide orient="horz" pos="21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5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E1860-5156-40DC-9E59-743B1D41751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75615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51865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427480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903730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79345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55595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31210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07460" algn="l" defTabSz="9518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辅导员的工作内容十分丰富，主要包括以下几个方面</a:t>
            </a:r>
          </a:p>
          <a:p>
            <a:r>
              <a:t>思想政治教育：引导学生树立正确的世界观、人生观和价值观，培养学生的爱国主义、集体主义和社会主义思想</a:t>
            </a:r>
          </a:p>
          <a:p>
            <a:r>
              <a:t>学业指导：帮助学生制定学习计划，提供学习方法指导，解决学习中的困难和问题</a:t>
            </a:r>
          </a:p>
          <a:p>
            <a:r>
              <a:t>生活关怀：关心学生的生活状况，提供生活指导，帮助学生解决生活中的问题和困难</a:t>
            </a:r>
          </a:p>
          <a:p>
            <a:r>
              <a:t>职业规划：为学生提供职业规划指导，帮助学生制定职业发展目标和发展计划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此外，辅导员还需要承担以下职责</a:t>
            </a:r>
          </a:p>
          <a:p>
            <a:r>
              <a:t>管理学生日常事务</a:t>
            </a:r>
          </a:p>
          <a:p>
            <a:r>
              <a:t>组织开展学生活动</a:t>
            </a:r>
          </a:p>
          <a:p>
            <a:r>
              <a:t>与学生家长保持沟通联系</a:t>
            </a:r>
          </a:p>
          <a:p>
            <a:r>
              <a:t>对学生进行：心理疏导和危机干预</a:t>
            </a:r>
          </a:p>
          <a:p>
            <a:r>
              <a:t>参与校园文化建设和社会实践活动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作为辅导员，需要具备以下专业能力和技能</a:t>
            </a:r>
          </a:p>
          <a:p>
            <a:r>
              <a:t>沟通能力：与学生进行有效沟通，了解学生的需求和问题，能够独立处理学生事务</a:t>
            </a:r>
          </a:p>
          <a:p>
            <a:r>
              <a:t>组织协调能力：能够组织和管理学生活动，协调各方面资源，推动工作的顺利开展</a:t>
            </a:r>
          </a:p>
          <a:p>
            <a:r>
              <a:t>创新能力：能够独立思考和创新工作方式方法，不断优化工作流程和提高工作效率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随着教育改革的不断深入和教育环境的不断变化，辅导员职业的发展趋势和前景展望也在不断变化。未来几年，辅导员职业将面临以下发展趋势</a:t>
            </a:r>
          </a:p>
          <a:p>
            <a:r>
              <a:t>专业化和职业化程度将不断提高：随着教育改革的深入推进和教育需求的不断变化，辅导员职业的专业化和职业化程度将不断提高。未来几年，将有越来越多的高校开始实施辅导员职业资格认证制度，提高辅导员的职业素养和工作能力。同时，辅导员的职业发展路径也将更加清晰明确，将有更多的机会参与专业培训和学术交流活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  <a:p>
            <a:r>
              <a:t>作为辅导员，为了不断提高自身的职业素养和工作能力，需要关注以下几个方面</a:t>
            </a:r>
          </a:p>
          <a:p>
            <a:r>
              <a:t>不断学习和更新知识储备：作为辅导员，需要不断学习新的知识和技能，以适应不断变化的教育环境和工作环境。可以通过参加职业培训、学术交流活动、研讨会等方式，提高自身的专业素养和工作能力</a:t>
            </a:r>
          </a:p>
          <a:p>
            <a:r>
              <a:t>积极探索和创新工作方式方法：作为辅导员，需要不断探索和创新工作方式方法，提高工作效率和质量。可以通过参与科研项目、与同行交流经验、阅读相关文献等方式，不断创新自身的工作方式和方法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5B25F-535F-4C5D-B1DA-56F763568B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页面通过PPT超级市场(pptsupermarket.com)制作，如有异常请联系客服（微信：sootar_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278A3-F0F7-42E0-B1AA-AA18437D644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0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4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1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4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8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445" b="1" cap="all"/>
            </a:lvl1pPr>
          </a:lstStyle>
          <a:p>
            <a:r>
              <a:rPr lang="zh-CN" altLang="en-US" b="1"/>
              <a:t>单击此处编辑母版标题样式</a:t>
            </a:r>
            <a:endParaRPr lang="zh-CN" altLang="en-US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220">
                <a:solidFill>
                  <a:schemeClr val="tx1">
                    <a:tint val="75000"/>
                  </a:schemeClr>
                </a:solidFill>
              </a:defRPr>
            </a:lvl1pPr>
            <a:lvl2pPr marL="503555" indent="0">
              <a:buNone/>
              <a:defRPr sz="2010">
                <a:solidFill>
                  <a:schemeClr val="tx1">
                    <a:tint val="75000"/>
                  </a:schemeClr>
                </a:solidFill>
              </a:defRPr>
            </a:lvl2pPr>
            <a:lvl3pPr marL="10071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0665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4pPr>
            <a:lvl5pPr marL="2014220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5pPr>
            <a:lvl6pPr marL="2517775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6pPr>
            <a:lvl7pPr marL="3021330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7pPr>
            <a:lvl8pPr marL="3524885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8pPr>
            <a:lvl9pPr marL="4028440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070"/>
            </a:lvl1pPr>
            <a:lvl2pPr>
              <a:defRPr sz="2645"/>
            </a:lvl2pPr>
            <a:lvl3pPr>
              <a:defRPr sz="2220"/>
            </a:lvl3pPr>
            <a:lvl4pPr>
              <a:defRPr sz="2010"/>
            </a:lvl4pPr>
            <a:lvl5pPr>
              <a:defRPr sz="2010"/>
            </a:lvl5pPr>
            <a:lvl6pPr>
              <a:defRPr sz="2010"/>
            </a:lvl6pPr>
            <a:lvl7pPr>
              <a:defRPr sz="2010"/>
            </a:lvl7pPr>
            <a:lvl8pPr>
              <a:defRPr sz="2010"/>
            </a:lvl8pPr>
            <a:lvl9pPr>
              <a:defRPr sz="20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070"/>
            </a:lvl1pPr>
            <a:lvl2pPr>
              <a:defRPr sz="2645"/>
            </a:lvl2pPr>
            <a:lvl3pPr>
              <a:defRPr sz="2220"/>
            </a:lvl3pPr>
            <a:lvl4pPr>
              <a:defRPr sz="2010"/>
            </a:lvl4pPr>
            <a:lvl5pPr>
              <a:defRPr sz="2010"/>
            </a:lvl5pPr>
            <a:lvl6pPr>
              <a:defRPr sz="2010"/>
            </a:lvl6pPr>
            <a:lvl7pPr>
              <a:defRPr sz="2010"/>
            </a:lvl7pPr>
            <a:lvl8pPr>
              <a:defRPr sz="2010"/>
            </a:lvl8pPr>
            <a:lvl9pPr>
              <a:defRPr sz="20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20" b="1"/>
            </a:lvl2pPr>
            <a:lvl3pPr marL="1007110" indent="0">
              <a:buNone/>
              <a:defRPr sz="2010" b="1"/>
            </a:lvl3pPr>
            <a:lvl4pPr marL="1510665" indent="0">
              <a:buNone/>
              <a:defRPr sz="1800" b="1"/>
            </a:lvl4pPr>
            <a:lvl5pPr marL="2014220" indent="0">
              <a:buNone/>
              <a:defRPr sz="1800" b="1"/>
            </a:lvl5pPr>
            <a:lvl6pPr marL="2517775" indent="0">
              <a:buNone/>
              <a:defRPr sz="1800" b="1"/>
            </a:lvl6pPr>
            <a:lvl7pPr marL="3021330" indent="0">
              <a:buNone/>
              <a:defRPr sz="1800" b="1"/>
            </a:lvl7pPr>
            <a:lvl8pPr marL="3524885" indent="0">
              <a:buNone/>
              <a:defRPr sz="1800" b="1"/>
            </a:lvl8pPr>
            <a:lvl9pPr marL="4028440" indent="0">
              <a:buNone/>
              <a:defRPr sz="18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6"/>
            <a:ext cx="5386917" cy="3951288"/>
          </a:xfrm>
        </p:spPr>
        <p:txBody>
          <a:bodyPr/>
          <a:lstStyle>
            <a:lvl1pPr>
              <a:defRPr sz="2645"/>
            </a:lvl1pPr>
            <a:lvl2pPr>
              <a:defRPr sz="2220"/>
            </a:lvl2pPr>
            <a:lvl3pPr>
              <a:defRPr sz="201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20" b="1"/>
            </a:lvl2pPr>
            <a:lvl3pPr marL="1007110" indent="0">
              <a:buNone/>
              <a:defRPr sz="2010" b="1"/>
            </a:lvl3pPr>
            <a:lvl4pPr marL="1510665" indent="0">
              <a:buNone/>
              <a:defRPr sz="1800" b="1"/>
            </a:lvl4pPr>
            <a:lvl5pPr marL="2014220" indent="0">
              <a:buNone/>
              <a:defRPr sz="1800" b="1"/>
            </a:lvl5pPr>
            <a:lvl6pPr marL="2517775" indent="0">
              <a:buNone/>
              <a:defRPr sz="1800" b="1"/>
            </a:lvl6pPr>
            <a:lvl7pPr marL="3021330" indent="0">
              <a:buNone/>
              <a:defRPr sz="1800" b="1"/>
            </a:lvl7pPr>
            <a:lvl8pPr marL="3524885" indent="0">
              <a:buNone/>
              <a:defRPr sz="1800" b="1"/>
            </a:lvl8pPr>
            <a:lvl9pPr marL="4028440" indent="0">
              <a:buNone/>
              <a:defRPr sz="1800" b="1"/>
            </a:lvl9pPr>
          </a:lstStyle>
          <a:p>
            <a:pPr lvl="0"/>
            <a:r>
              <a:rPr lang="zh-CN" altLang="en-US" b="1"/>
              <a:t>单击此处编辑母版文本样式</a:t>
            </a:r>
            <a:endParaRPr lang="zh-CN" altLang="en-US" b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3951288"/>
          </a:xfrm>
        </p:spPr>
        <p:txBody>
          <a:bodyPr/>
          <a:lstStyle>
            <a:lvl1pPr>
              <a:defRPr sz="2645"/>
            </a:lvl1pPr>
            <a:lvl2pPr>
              <a:defRPr sz="2220"/>
            </a:lvl2pPr>
            <a:lvl3pPr>
              <a:defRPr sz="201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 b="1"/>
              <a:t>单击此处编辑母版标题样式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7" cy="5853113"/>
          </a:xfrm>
        </p:spPr>
        <p:txBody>
          <a:bodyPr/>
          <a:lstStyle>
            <a:lvl1pPr>
              <a:defRPr sz="3490"/>
            </a:lvl1pPr>
            <a:lvl2pPr>
              <a:defRPr sz="3070"/>
            </a:lvl2pPr>
            <a:lvl3pPr>
              <a:defRPr sz="2645"/>
            </a:lvl3pPr>
            <a:lvl4pPr>
              <a:defRPr sz="2220"/>
            </a:lvl4pPr>
            <a:lvl5pPr>
              <a:defRPr sz="2220"/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5" cy="4691063"/>
          </a:xfrm>
        </p:spPr>
        <p:txBody>
          <a:bodyPr/>
          <a:lstStyle>
            <a:lvl1pPr marL="0" indent="0">
              <a:buNone/>
              <a:defRPr sz="1585"/>
            </a:lvl1pPr>
            <a:lvl2pPr marL="503555" indent="0">
              <a:buNone/>
              <a:defRPr sz="1270"/>
            </a:lvl2pPr>
            <a:lvl3pPr marL="1007110" indent="0">
              <a:buNone/>
              <a:defRPr sz="1060"/>
            </a:lvl3pPr>
            <a:lvl4pPr marL="1510665" indent="0">
              <a:buNone/>
              <a:defRPr sz="950"/>
            </a:lvl4pPr>
            <a:lvl5pPr marL="2014220" indent="0">
              <a:buNone/>
              <a:defRPr sz="950"/>
            </a:lvl5pPr>
            <a:lvl6pPr marL="2517775" indent="0">
              <a:buNone/>
              <a:defRPr sz="950"/>
            </a:lvl6pPr>
            <a:lvl7pPr marL="3021330" indent="0">
              <a:buNone/>
              <a:defRPr sz="950"/>
            </a:lvl7pPr>
            <a:lvl8pPr marL="3524885" indent="0">
              <a:buNone/>
              <a:defRPr sz="950"/>
            </a:lvl8pPr>
            <a:lvl9pPr marL="4028440" indent="0">
              <a:buNone/>
              <a:defRPr sz="9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 b="1"/>
              <a:t>单击此处编辑母版标题样式</a:t>
            </a:r>
            <a:endParaRPr lang="zh-CN" altLang="en-US" b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4114800"/>
          </a:xfrm>
        </p:spPr>
        <p:txBody>
          <a:bodyPr/>
          <a:lstStyle>
            <a:lvl1pPr marL="0" indent="0">
              <a:buNone/>
              <a:defRPr sz="3490"/>
            </a:lvl1pPr>
            <a:lvl2pPr marL="503555" indent="0">
              <a:buNone/>
              <a:defRPr sz="3070"/>
            </a:lvl2pPr>
            <a:lvl3pPr marL="1007110" indent="0">
              <a:buNone/>
              <a:defRPr sz="2645"/>
            </a:lvl3pPr>
            <a:lvl4pPr marL="1510665" indent="0">
              <a:buNone/>
              <a:defRPr sz="2220"/>
            </a:lvl4pPr>
            <a:lvl5pPr marL="2014220" indent="0">
              <a:buNone/>
              <a:defRPr sz="2220"/>
            </a:lvl5pPr>
            <a:lvl6pPr marL="2517775" indent="0">
              <a:buNone/>
              <a:defRPr sz="2220"/>
            </a:lvl6pPr>
            <a:lvl7pPr marL="3021330" indent="0">
              <a:buNone/>
              <a:defRPr sz="2220"/>
            </a:lvl7pPr>
            <a:lvl8pPr marL="3524885" indent="0">
              <a:buNone/>
              <a:defRPr sz="2220"/>
            </a:lvl8pPr>
            <a:lvl9pPr marL="4028440" indent="0">
              <a:buNone/>
              <a:defRPr sz="222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585"/>
            </a:lvl1pPr>
            <a:lvl2pPr marL="503555" indent="0">
              <a:buNone/>
              <a:defRPr sz="1270"/>
            </a:lvl2pPr>
            <a:lvl3pPr marL="1007110" indent="0">
              <a:buNone/>
              <a:defRPr sz="1060"/>
            </a:lvl3pPr>
            <a:lvl4pPr marL="1510665" indent="0">
              <a:buNone/>
              <a:defRPr sz="950"/>
            </a:lvl4pPr>
            <a:lvl5pPr marL="2014220" indent="0">
              <a:buNone/>
              <a:defRPr sz="950"/>
            </a:lvl5pPr>
            <a:lvl6pPr marL="2517775" indent="0">
              <a:buNone/>
              <a:defRPr sz="950"/>
            </a:lvl6pPr>
            <a:lvl7pPr marL="3021330" indent="0">
              <a:buNone/>
              <a:defRPr sz="950"/>
            </a:lvl7pPr>
            <a:lvl8pPr marL="3524885" indent="0">
              <a:buNone/>
              <a:defRPr sz="950"/>
            </a:lvl8pPr>
            <a:lvl9pPr marL="4028440" indent="0">
              <a:buNone/>
              <a:defRPr sz="9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1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1" cy="1143000"/>
          </a:xfrm>
          <a:prstGeom prst="rect">
            <a:avLst/>
          </a:prstGeom>
        </p:spPr>
        <p:txBody>
          <a:bodyPr vert="horz" lIns="95180" tIns="47590" rIns="95180" bIns="475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1" cy="4525963"/>
          </a:xfrm>
          <a:prstGeom prst="rect">
            <a:avLst/>
          </a:prstGeom>
        </p:spPr>
        <p:txBody>
          <a:bodyPr vert="horz" lIns="95180" tIns="47590" rIns="95180" bIns="475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1"/>
            <a:ext cx="2844800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defPPr>
              <a:defRPr lang="zh-CN"/>
            </a:defPPr>
            <a:lvl1pPr marL="0" algn="l" defTabSz="951865" rtl="0" eaLnBrk="1" latinLnBrk="0" hangingPunct="1">
              <a:defRPr sz="12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B13A585-CCD5-4E06-BCB4-AD2A7BDD655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1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defPPr>
              <a:defRPr lang="zh-CN"/>
            </a:defPPr>
            <a:lvl1pPr marL="0" algn="ctr" defTabSz="951865" rtl="0" eaLnBrk="1" latinLnBrk="0" hangingPunct="1">
              <a:defRPr sz="12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1"/>
            <a:ext cx="2844800" cy="365125"/>
          </a:xfrm>
          <a:prstGeom prst="rect">
            <a:avLst/>
          </a:prstGeom>
        </p:spPr>
        <p:txBody>
          <a:bodyPr vert="horz" lIns="95180" tIns="47590" rIns="95180" bIns="47590" rtlCol="0" anchor="ctr"/>
          <a:lstStyle>
            <a:defPPr>
              <a:defRPr lang="zh-CN"/>
            </a:defPPr>
            <a:lvl1pPr marL="0" algn="r" defTabSz="951865" rtl="0" eaLnBrk="1" latinLnBrk="0" hangingPunct="1">
              <a:defRPr sz="12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1D4E539-7ADC-4EAE-B951-4D0795672BA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007110" rtl="0" eaLnBrk="1" latinLnBrk="0" hangingPunct="1">
        <a:spcBef>
          <a:spcPct val="0"/>
        </a:spcBef>
        <a:buNone/>
        <a:defRPr sz="4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825" indent="-377825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90" kern="1200">
          <a:solidFill>
            <a:schemeClr val="tx1"/>
          </a:solidFill>
          <a:latin typeface="+mn-lt"/>
          <a:ea typeface="+mn-ea"/>
          <a:cs typeface="+mn-cs"/>
        </a:defRPr>
      </a:lvl1pPr>
      <a:lvl2pPr marL="818515" indent="-3149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–"/>
        <a:defRPr sz="3070" kern="1200">
          <a:solidFill>
            <a:schemeClr val="tx1"/>
          </a:solidFill>
          <a:latin typeface="+mn-lt"/>
          <a:ea typeface="+mn-ea"/>
          <a:cs typeface="+mn-cs"/>
        </a:defRPr>
      </a:lvl2pPr>
      <a:lvl3pPr marL="1258570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20" kern="1200">
          <a:solidFill>
            <a:schemeClr val="tx1"/>
          </a:solidFill>
          <a:latin typeface="+mn-lt"/>
          <a:ea typeface="+mn-ea"/>
          <a:cs typeface="+mn-cs"/>
        </a:defRPr>
      </a:lvl4pPr>
      <a:lvl5pPr marL="2265680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»"/>
        <a:defRPr sz="2220" kern="1200">
          <a:solidFill>
            <a:schemeClr val="tx1"/>
          </a:solidFill>
          <a:latin typeface="+mn-lt"/>
          <a:ea typeface="+mn-ea"/>
          <a:cs typeface="+mn-cs"/>
        </a:defRPr>
      </a:lvl5pPr>
      <a:lvl6pPr marL="2769235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6pPr>
      <a:lvl7pPr marL="3272790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7pPr>
      <a:lvl8pPr marL="3776345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8pPr>
      <a:lvl9pPr marL="4279900" indent="-251460" algn="l" defTabSz="10071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2pPr>
      <a:lvl3pPr marL="1007110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3pPr>
      <a:lvl4pPr marL="1510665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4pPr>
      <a:lvl5pPr marL="2014220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5pPr>
      <a:lvl6pPr marL="2517775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6pPr>
      <a:lvl7pPr marL="3021330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7pPr>
      <a:lvl8pPr marL="3524885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8pPr>
      <a:lvl9pPr marL="4028440" algn="l" defTabSz="1007110" rtl="0" eaLnBrk="1" latinLnBrk="0" hangingPunct="1">
        <a:defRPr sz="20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42"/>
          <p:cNvSpPr txBox="1"/>
          <p:nvPr/>
        </p:nvSpPr>
        <p:spPr>
          <a:xfrm>
            <a:off x="1744076" y="2996952"/>
            <a:ext cx="8703847" cy="1625655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8000" b="1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对于辅导员职业的专业认知介绍</a:t>
            </a:r>
            <a:endParaRPr lang="zh-CN" altLang="en-US" sz="8000" b="1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3112430" y="4509133"/>
            <a:ext cx="14311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flipV="1">
            <a:off x="7671545" y="4509133"/>
            <a:ext cx="1548440" cy="14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20"/>
          <p:cNvSpPr txBox="1"/>
          <p:nvPr/>
        </p:nvSpPr>
        <p:spPr>
          <a:xfrm>
            <a:off x="3356663" y="1072490"/>
            <a:ext cx="5558543" cy="204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1269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20</a:t>
            </a:r>
            <a:r>
              <a:rPr lang="en-US" altLang="zh-CN" sz="1269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23</a:t>
            </a:r>
            <a:endParaRPr lang="en-US" altLang="zh-CN" sz="1269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99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 prLst="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dvAuto="0"/>
      <p:bldP spid="128" grpId="2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47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8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9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51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-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B07D5-5CDF-4D0C-AD3B-9F444A1C1FED}" type="slidenum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7" name="Aitds2"/>
          <p:cNvSpPr txBox="1"/>
          <p:nvPr/>
        </p:nvSpPr>
        <p:spPr>
          <a:xfrm>
            <a:off x="4655840" y="1210754"/>
            <a:ext cx="288032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660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目录</a:t>
            </a:r>
            <a:endParaRPr kumimoji="1" lang="zh-CN" altLang="en-US" sz="660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28" name="Aitds3"/>
          <p:cNvSpPr txBox="1"/>
          <p:nvPr>
            <p:custDataLst>
              <p:tags r:id="rId2"/>
            </p:custDataLst>
          </p:nvPr>
        </p:nvSpPr>
        <p:spPr>
          <a:xfrm>
            <a:off x="5261884" y="2166758"/>
            <a:ext cx="1634900" cy="303255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dist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1600" b="1" spc="40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CONTENTS</a:t>
            </a:r>
            <a:endParaRPr lang="zh-CN" altLang="zh-CN" sz="1600" b="1" spc="40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29" name="矩形: 圆角 24"/>
          <p:cNvSpPr/>
          <p:nvPr/>
        </p:nvSpPr>
        <p:spPr>
          <a:xfrm>
            <a:off x="1896889" y="2794859"/>
            <a:ext cx="3916252" cy="591847"/>
          </a:xfrm>
          <a:prstGeom prst="roundRect">
            <a:avLst>
              <a:gd name="adj" fmla="val 24431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教育背景与专业要求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0" name="矩形: 圆角 25"/>
          <p:cNvSpPr/>
          <p:nvPr/>
        </p:nvSpPr>
        <p:spPr>
          <a:xfrm>
            <a:off x="1128714" y="2794859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1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1" name="矩形: 圆角 24"/>
          <p:cNvSpPr/>
          <p:nvPr/>
        </p:nvSpPr>
        <p:spPr>
          <a:xfrm>
            <a:off x="1896889" y="3681367"/>
            <a:ext cx="3916252" cy="59184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工作内容与职责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2" name="矩形: 圆角 25"/>
          <p:cNvSpPr/>
          <p:nvPr/>
        </p:nvSpPr>
        <p:spPr>
          <a:xfrm>
            <a:off x="1128714" y="3681367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3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3" name="矩形: 圆角 24"/>
          <p:cNvSpPr/>
          <p:nvPr/>
        </p:nvSpPr>
        <p:spPr>
          <a:xfrm>
            <a:off x="6946934" y="2804151"/>
            <a:ext cx="3916252" cy="59184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职业资格与认证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4" name="矩形: 圆角 25"/>
          <p:cNvSpPr/>
          <p:nvPr/>
        </p:nvSpPr>
        <p:spPr>
          <a:xfrm>
            <a:off x="6178759" y="2789862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2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5" name="矩形: 圆角 24"/>
          <p:cNvSpPr/>
          <p:nvPr/>
        </p:nvSpPr>
        <p:spPr>
          <a:xfrm>
            <a:off x="1895292" y="4567875"/>
            <a:ext cx="3916253" cy="59182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发展趋势与前景展望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6" name="矩形: 圆角 25"/>
          <p:cNvSpPr/>
          <p:nvPr/>
        </p:nvSpPr>
        <p:spPr>
          <a:xfrm>
            <a:off x="1127193" y="4567990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5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41" name="矩形: 圆角 24"/>
          <p:cNvSpPr/>
          <p:nvPr/>
        </p:nvSpPr>
        <p:spPr>
          <a:xfrm>
            <a:off x="6946934" y="3717032"/>
            <a:ext cx="3916252" cy="591847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专业能力与技能要求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42" name="矩形: 圆角 25"/>
          <p:cNvSpPr/>
          <p:nvPr/>
        </p:nvSpPr>
        <p:spPr>
          <a:xfrm>
            <a:off x="6178759" y="3717032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4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2" name="矩形: 圆角 24"/>
          <p:cNvSpPr/>
          <p:nvPr/>
        </p:nvSpPr>
        <p:spPr>
          <a:xfrm>
            <a:off x="6946934" y="4567875"/>
            <a:ext cx="3916253" cy="59182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职业发展与提升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3" name="矩形: 圆角 25"/>
          <p:cNvSpPr/>
          <p:nvPr/>
        </p:nvSpPr>
        <p:spPr>
          <a:xfrm>
            <a:off x="6178835" y="4567990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6</a:t>
            </a:r>
            <a:endParaRPr lang="zh-CN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50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" name="矩形: 圆角 25"/>
          <p:cNvSpPr/>
          <p:nvPr>
            <p:custDataLst>
              <p:tags r:id="rId3"/>
            </p:custDataLst>
          </p:nvPr>
        </p:nvSpPr>
        <p:spPr>
          <a:xfrm>
            <a:off x="1129098" y="5444925"/>
            <a:ext cx="610921" cy="591846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000" b="1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7</a:t>
            </a:r>
            <a:endParaRPr lang="en-US" altLang="zh-CN" sz="3000" b="1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  <p:sp>
        <p:nvSpPr>
          <p:cNvPr id="6" name="矩形: 圆角 24"/>
          <p:cNvSpPr/>
          <p:nvPr>
            <p:custDataLst>
              <p:tags r:id="rId4"/>
            </p:custDataLst>
          </p:nvPr>
        </p:nvSpPr>
        <p:spPr>
          <a:xfrm>
            <a:off x="1919422" y="5461955"/>
            <a:ext cx="3916253" cy="591820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+mn-ea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l"/>
            <a:r>
              <a:rPr lang="zh-CN" altLang="en-US" sz="2800" b="0" i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charset="-122"/>
                <a:cs typeface="黑体" panose="02010609060101010101" charset="-122"/>
                <a:sym typeface="宋体" panose="02010600030101010101" pitchFamily="2" charset="-122"/>
              </a:rPr>
              <a:t>辅导员介绍</a:t>
            </a:r>
            <a:endParaRPr lang="zh-CN" altLang="en-US" sz="2800" b="0" i="0">
              <a:solidFill>
                <a:srgbClr val="000000"/>
              </a:solidFill>
              <a:latin typeface="宋体" panose="02010600030101010101" pitchFamily="2" charset="-122"/>
              <a:ea typeface="黑体" panose="02010609060101010101" charset="-122"/>
              <a:cs typeface="黑体" panose="02010609060101010101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5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8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dvAuto="0"/>
      <p:bldP spid="30" grpId="1" advAuto="0"/>
      <p:bldP spid="31" grpId="2" advAuto="0"/>
      <p:bldP spid="32" grpId="3" advAuto="0"/>
      <p:bldP spid="33" grpId="4" advAuto="0"/>
      <p:bldP spid="34" grpId="5" advAuto="0"/>
      <p:bldP spid="35" grpId="6" advAuto="0"/>
      <p:bldP spid="36" grpId="7" advAuto="0"/>
      <p:bldP spid="41" grpId="8" advAuto="0"/>
      <p:bldP spid="42" grpId="9" advAuto="0"/>
      <p:bldP spid="2" grpId="10" advAuto="0"/>
      <p:bldP spid="3" grpId="11" advAuto="0"/>
      <p:bldP spid="4" grpId="7" bldLvl="0" animBg="1" advAuto="0"/>
      <p:bldP spid="6" grpId="6" bldLvl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44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5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6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8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对于辅导员职业的专业认知介绍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95357" y="1973032"/>
            <a:ext cx="864742" cy="864742"/>
          </a:xfrm>
          <a:prstGeom prst="ellipse">
            <a:avLst/>
          </a:prstGeom>
          <a:solidFill>
            <a:srgbClr val="0000FF"/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/>
            <a:r>
              <a:rPr lang="zh-CN" altLang="zh-CN" sz="2000" b="1" i="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1</a:t>
            </a:r>
            <a:endParaRPr lang="zh-CN" altLang="zh-CN" sz="2000" b="1" i="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70401" y="3362378"/>
            <a:ext cx="864742" cy="864742"/>
          </a:xfrm>
          <a:prstGeom prst="ellipse">
            <a:avLst/>
          </a:prstGeom>
          <a:solidFill>
            <a:srgbClr val="0000FF"/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/>
            <a:r>
              <a:rPr lang="zh-CN" altLang="zh-CN" sz="2000" b="1" i="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2</a:t>
            </a:r>
            <a:endParaRPr lang="zh-CN" altLang="zh-CN" sz="2000" b="1" i="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183985" y="4790800"/>
            <a:ext cx="864742" cy="864742"/>
          </a:xfrm>
          <a:prstGeom prst="ellipse">
            <a:avLst/>
          </a:prstGeom>
          <a:solidFill>
            <a:srgbClr val="0000FF"/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>
            <a:pPr algn="ctr"/>
            <a:r>
              <a:rPr lang="zh-CN" altLang="zh-CN" sz="2000" b="1" i="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3</a:t>
            </a:r>
            <a:endParaRPr lang="zh-CN" altLang="zh-CN" sz="2000" b="1" i="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24635" y="1973032"/>
            <a:ext cx="7871965" cy="864742"/>
            <a:chOff x="2296697" y="1255965"/>
            <a:chExt cx="7699903" cy="864742"/>
          </a:xfrm>
          <a:solidFill>
            <a:srgbClr val="0000FF"/>
          </a:solidFill>
        </p:grpSpPr>
        <p:sp>
          <p:nvSpPr>
            <p:cNvPr id="19" name="圆角矩形 13"/>
            <p:cNvSpPr/>
            <p:nvPr/>
          </p:nvSpPr>
          <p:spPr>
            <a:xfrm>
              <a:off x="2446622" y="1255965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20" name="等腰三角形 19"/>
            <p:cNvSpPr/>
            <p:nvPr/>
          </p:nvSpPr>
          <p:spPr>
            <a:xfrm rot="16200000">
              <a:off x="2272840" y="1539231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21" name="组合 20"/>
          <p:cNvGrpSpPr/>
          <p:nvPr/>
        </p:nvGrpSpPr>
        <p:grpSpPr>
          <a:xfrm>
            <a:off x="2277910" y="3362378"/>
            <a:ext cx="7877697" cy="864742"/>
            <a:chOff x="2405619" y="2674437"/>
            <a:chExt cx="7711888" cy="864742"/>
          </a:xfrm>
          <a:solidFill>
            <a:srgbClr val="0000FF"/>
          </a:solidFill>
        </p:grpSpPr>
        <p:sp>
          <p:nvSpPr>
            <p:cNvPr id="35" name="圆角矩形 20"/>
            <p:cNvSpPr/>
            <p:nvPr/>
          </p:nvSpPr>
          <p:spPr>
            <a:xfrm>
              <a:off x="2405619" y="2674437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36" name="等腰三角形 35"/>
            <p:cNvSpPr/>
            <p:nvPr/>
          </p:nvSpPr>
          <p:spPr>
            <a:xfrm rot="5400000">
              <a:off x="9795440" y="2957703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grpSp>
        <p:nvGrpSpPr>
          <p:cNvPr id="37" name="组合 36"/>
          <p:cNvGrpSpPr/>
          <p:nvPr/>
        </p:nvGrpSpPr>
        <p:grpSpPr>
          <a:xfrm>
            <a:off x="2124635" y="4788219"/>
            <a:ext cx="7873293" cy="864742"/>
            <a:chOff x="2285325" y="4095489"/>
            <a:chExt cx="7699903" cy="864742"/>
          </a:xfrm>
          <a:solidFill>
            <a:srgbClr val="0000FF"/>
          </a:solidFill>
        </p:grpSpPr>
        <p:sp>
          <p:nvSpPr>
            <p:cNvPr id="38" name="圆角矩形 23"/>
            <p:cNvSpPr/>
            <p:nvPr/>
          </p:nvSpPr>
          <p:spPr>
            <a:xfrm>
              <a:off x="2435250" y="4095489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39" name="等腰三角形 38"/>
            <p:cNvSpPr/>
            <p:nvPr/>
          </p:nvSpPr>
          <p:spPr>
            <a:xfrm rot="16200000">
              <a:off x="2261468" y="4378755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0" name="文本占位符 38"/>
          <p:cNvSpPr txBox="1"/>
          <p:nvPr/>
        </p:nvSpPr>
        <p:spPr>
          <a:xfrm>
            <a:off x="2421222" y="1973032"/>
            <a:ext cx="7549978" cy="862162"/>
          </a:xfrm>
          <a:prstGeom prst="rect">
            <a:avLst/>
          </a:prstGeom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z="200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辅导员职业是一个集教育、管理、服务于一体的综合性职业，主要负责学生的思想政治教育、学业指导、生活关怀和职业规划等工作</a:t>
            </a:r>
            <a:endParaRPr lang="zh-CN" altLang="zh-CN" sz="200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1" name="文本占位符 38"/>
          <p:cNvSpPr txBox="1"/>
          <p:nvPr/>
        </p:nvSpPr>
        <p:spPr>
          <a:xfrm>
            <a:off x="2421222" y="3359798"/>
            <a:ext cx="7549978" cy="862162"/>
          </a:xfrm>
          <a:prstGeom prst="rect">
            <a:avLst/>
          </a:prstGeom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zh-CN" sz="200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作为辅导员，需要具备丰富的专业知识和技能，包括但不限于教育学、心理学、社会学、管理学等领域</a:t>
            </a:r>
            <a:endParaRPr lang="zh-CN" altLang="zh-CN" sz="200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2" name="文本占位符 38"/>
          <p:cNvSpPr txBox="1"/>
          <p:nvPr/>
        </p:nvSpPr>
        <p:spPr>
          <a:xfrm>
            <a:off x="2420402" y="4793379"/>
            <a:ext cx="7549978" cy="862162"/>
          </a:xfrm>
          <a:prstGeom prst="rect">
            <a:avLst/>
          </a:prstGeom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z="2000"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下面将从以下几个方面对辅导员职业的专业认知进行介绍</a:t>
            </a:r>
            <a:endParaRPr lang="zh-CN" altLang="zh-CN" sz="2000">
              <a:latin typeface="宋体" panose="02010600030101010101" pitchFamily="2" charset="-122"/>
              <a:ea typeface="思源等宽 N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7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585244" y="1898344"/>
            <a:ext cx="647699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第1部分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教育背景与专业要求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21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2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3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5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教育背景与专业要求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3502" y="3191077"/>
            <a:ext cx="3497031" cy="1390052"/>
          </a:xfrm>
          <a:prstGeom prst="rect">
            <a:avLst/>
          </a:prstGeom>
        </p:spPr>
        <p:txBody>
          <a:bodyPr wrap="square" lIns="121907" tIns="60953" rIns="121907" bIns="60953" anchor="b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>
              <a:lnSpc>
                <a:spcPts val="1865"/>
              </a:lnSpc>
            </a:pPr>
            <a:r>
              <a:rPr lang="zh-CN" altLang="en-US" sz="1865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一般来说，辅导员需要具备本科以上学历，并且拥有相关学科背景，如教育学、心理学、社会学等</a:t>
            </a:r>
            <a:endParaRPr lang="zh-CN" altLang="en-US" sz="1865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6" name="Freeform 15"/>
          <p:cNvSpPr>
            <a:spLocks noEditPoints="1"/>
          </p:cNvSpPr>
          <p:nvPr/>
        </p:nvSpPr>
        <p:spPr>
          <a:xfrm>
            <a:off x="5847472" y="4766478"/>
            <a:ext cx="1187291" cy="1174749"/>
          </a:xfrm>
          <a:custGeom>
            <a:avLst/>
            <a:gdLst>
              <a:gd name="T0" fmla="*/ 54 w 95"/>
              <a:gd name="T1" fmla="*/ 94 h 94"/>
              <a:gd name="T2" fmla="*/ 56 w 95"/>
              <a:gd name="T3" fmla="*/ 81 h 94"/>
              <a:gd name="T4" fmla="*/ 66 w 95"/>
              <a:gd name="T5" fmla="*/ 78 h 94"/>
              <a:gd name="T6" fmla="*/ 76 w 95"/>
              <a:gd name="T7" fmla="*/ 85 h 94"/>
              <a:gd name="T8" fmla="*/ 86 w 95"/>
              <a:gd name="T9" fmla="*/ 75 h 94"/>
              <a:gd name="T10" fmla="*/ 78 w 95"/>
              <a:gd name="T11" fmla="*/ 65 h 94"/>
              <a:gd name="T12" fmla="*/ 82 w 95"/>
              <a:gd name="T13" fmla="*/ 56 h 94"/>
              <a:gd name="T14" fmla="*/ 95 w 95"/>
              <a:gd name="T15" fmla="*/ 54 h 94"/>
              <a:gd name="T16" fmla="*/ 95 w 95"/>
              <a:gd name="T17" fmla="*/ 40 h 94"/>
              <a:gd name="T18" fmla="*/ 82 w 95"/>
              <a:gd name="T19" fmla="*/ 38 h 94"/>
              <a:gd name="T20" fmla="*/ 82 w 95"/>
              <a:gd name="T21" fmla="*/ 37 h 94"/>
              <a:gd name="T22" fmla="*/ 82 w 95"/>
              <a:gd name="T23" fmla="*/ 37 h 94"/>
              <a:gd name="T24" fmla="*/ 80 w 95"/>
              <a:gd name="T25" fmla="*/ 33 h 94"/>
              <a:gd name="T26" fmla="*/ 80 w 95"/>
              <a:gd name="T27" fmla="*/ 31 h 94"/>
              <a:gd name="T28" fmla="*/ 80 w 95"/>
              <a:gd name="T29" fmla="*/ 31 h 94"/>
              <a:gd name="T30" fmla="*/ 78 w 95"/>
              <a:gd name="T31" fmla="*/ 29 h 94"/>
              <a:gd name="T32" fmla="*/ 86 w 95"/>
              <a:gd name="T33" fmla="*/ 18 h 94"/>
              <a:gd name="T34" fmla="*/ 76 w 95"/>
              <a:gd name="T35" fmla="*/ 9 h 94"/>
              <a:gd name="T36" fmla="*/ 66 w 95"/>
              <a:gd name="T37" fmla="*/ 16 h 94"/>
              <a:gd name="T38" fmla="*/ 56 w 95"/>
              <a:gd name="T39" fmla="*/ 12 h 94"/>
              <a:gd name="T40" fmla="*/ 54 w 95"/>
              <a:gd name="T41" fmla="*/ 0 h 94"/>
              <a:gd name="T42" fmla="*/ 41 w 95"/>
              <a:gd name="T43" fmla="*/ 0 h 94"/>
              <a:gd name="T44" fmla="*/ 38 w 95"/>
              <a:gd name="T45" fmla="*/ 12 h 94"/>
              <a:gd name="T46" fmla="*/ 29 w 95"/>
              <a:gd name="T47" fmla="*/ 16 h 94"/>
              <a:gd name="T48" fmla="*/ 19 w 95"/>
              <a:gd name="T49" fmla="*/ 9 h 94"/>
              <a:gd name="T50" fmla="*/ 9 w 95"/>
              <a:gd name="T51" fmla="*/ 18 h 94"/>
              <a:gd name="T52" fmla="*/ 17 w 95"/>
              <a:gd name="T53" fmla="*/ 29 h 94"/>
              <a:gd name="T54" fmla="*/ 13 w 95"/>
              <a:gd name="T55" fmla="*/ 38 h 94"/>
              <a:gd name="T56" fmla="*/ 0 w 95"/>
              <a:gd name="T57" fmla="*/ 40 h 94"/>
              <a:gd name="T58" fmla="*/ 0 w 95"/>
              <a:gd name="T59" fmla="*/ 54 h 94"/>
              <a:gd name="T60" fmla="*/ 13 w 95"/>
              <a:gd name="T61" fmla="*/ 56 h 94"/>
              <a:gd name="T62" fmla="*/ 16 w 95"/>
              <a:gd name="T63" fmla="*/ 65 h 94"/>
              <a:gd name="T64" fmla="*/ 9 w 95"/>
              <a:gd name="T65" fmla="*/ 75 h 94"/>
              <a:gd name="T66" fmla="*/ 19 w 95"/>
              <a:gd name="T67" fmla="*/ 85 h 94"/>
              <a:gd name="T68" fmla="*/ 29 w 95"/>
              <a:gd name="T69" fmla="*/ 78 h 94"/>
              <a:gd name="T70" fmla="*/ 38 w 95"/>
              <a:gd name="T71" fmla="*/ 82 h 94"/>
              <a:gd name="T72" fmla="*/ 41 w 95"/>
              <a:gd name="T73" fmla="*/ 94 h 94"/>
              <a:gd name="T74" fmla="*/ 54 w 95"/>
              <a:gd name="T75" fmla="*/ 94 h 94"/>
              <a:gd name="T76" fmla="*/ 72 w 95"/>
              <a:gd name="T77" fmla="*/ 43 h 94"/>
              <a:gd name="T78" fmla="*/ 51 w 95"/>
              <a:gd name="T79" fmla="*/ 72 h 94"/>
              <a:gd name="T80" fmla="*/ 22 w 95"/>
              <a:gd name="T81" fmla="*/ 50 h 94"/>
              <a:gd name="T82" fmla="*/ 44 w 95"/>
              <a:gd name="T83" fmla="*/ 22 h 94"/>
              <a:gd name="T84" fmla="*/ 56 w 95"/>
              <a:gd name="T85" fmla="*/ 23 h 94"/>
              <a:gd name="T86" fmla="*/ 56 w 95"/>
              <a:gd name="T87" fmla="*/ 23 h 94"/>
              <a:gd name="T88" fmla="*/ 65 w 95"/>
              <a:gd name="T89" fmla="*/ 29 h 94"/>
              <a:gd name="T90" fmla="*/ 69 w 95"/>
              <a:gd name="T91" fmla="*/ 34 h 94"/>
              <a:gd name="T92" fmla="*/ 72 w 95"/>
              <a:gd name="T93" fmla="*/ 43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5" h="94">
                <a:moveTo>
                  <a:pt x="54" y="94"/>
                </a:moveTo>
                <a:cubicBezTo>
                  <a:pt x="56" y="81"/>
                  <a:pt x="56" y="81"/>
                  <a:pt x="56" y="81"/>
                </a:cubicBezTo>
                <a:cubicBezTo>
                  <a:pt x="66" y="78"/>
                  <a:pt x="66" y="78"/>
                  <a:pt x="66" y="78"/>
                </a:cubicBezTo>
                <a:cubicBezTo>
                  <a:pt x="76" y="85"/>
                  <a:pt x="76" y="85"/>
                  <a:pt x="76" y="85"/>
                </a:cubicBezTo>
                <a:cubicBezTo>
                  <a:pt x="86" y="75"/>
                  <a:pt x="86" y="75"/>
                  <a:pt x="86" y="75"/>
                </a:cubicBezTo>
                <a:cubicBezTo>
                  <a:pt x="78" y="65"/>
                  <a:pt x="78" y="65"/>
                  <a:pt x="78" y="65"/>
                </a:cubicBezTo>
                <a:cubicBezTo>
                  <a:pt x="82" y="56"/>
                  <a:pt x="82" y="56"/>
                  <a:pt x="82" y="56"/>
                </a:cubicBezTo>
                <a:cubicBezTo>
                  <a:pt x="95" y="54"/>
                  <a:pt x="95" y="54"/>
                  <a:pt x="95" y="54"/>
                </a:cubicBezTo>
                <a:cubicBezTo>
                  <a:pt x="95" y="40"/>
                  <a:pt x="95" y="40"/>
                  <a:pt x="95" y="40"/>
                </a:cubicBezTo>
                <a:cubicBezTo>
                  <a:pt x="82" y="38"/>
                  <a:pt x="82" y="38"/>
                  <a:pt x="82" y="38"/>
                </a:cubicBezTo>
                <a:cubicBezTo>
                  <a:pt x="82" y="37"/>
                  <a:pt x="82" y="37"/>
                  <a:pt x="82" y="37"/>
                </a:cubicBezTo>
                <a:cubicBezTo>
                  <a:pt x="82" y="37"/>
                  <a:pt x="82" y="37"/>
                  <a:pt x="82" y="37"/>
                </a:cubicBezTo>
                <a:cubicBezTo>
                  <a:pt x="80" y="33"/>
                  <a:pt x="80" y="33"/>
                  <a:pt x="80" y="33"/>
                </a:cubicBezTo>
                <a:cubicBezTo>
                  <a:pt x="80" y="31"/>
                  <a:pt x="80" y="31"/>
                  <a:pt x="80" y="31"/>
                </a:cubicBezTo>
                <a:cubicBezTo>
                  <a:pt x="80" y="31"/>
                  <a:pt x="80" y="31"/>
                  <a:pt x="80" y="31"/>
                </a:cubicBezTo>
                <a:cubicBezTo>
                  <a:pt x="78" y="29"/>
                  <a:pt x="78" y="29"/>
                  <a:pt x="78" y="29"/>
                </a:cubicBezTo>
                <a:cubicBezTo>
                  <a:pt x="86" y="18"/>
                  <a:pt x="86" y="18"/>
                  <a:pt x="86" y="18"/>
                </a:cubicBezTo>
                <a:cubicBezTo>
                  <a:pt x="76" y="9"/>
                  <a:pt x="76" y="9"/>
                  <a:pt x="76" y="9"/>
                </a:cubicBezTo>
                <a:cubicBezTo>
                  <a:pt x="66" y="16"/>
                  <a:pt x="66" y="16"/>
                  <a:pt x="66" y="16"/>
                </a:cubicBezTo>
                <a:cubicBezTo>
                  <a:pt x="56" y="12"/>
                  <a:pt x="56" y="12"/>
                  <a:pt x="56" y="12"/>
                </a:cubicBezTo>
                <a:cubicBezTo>
                  <a:pt x="54" y="0"/>
                  <a:pt x="54" y="0"/>
                  <a:pt x="54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38" y="12"/>
                  <a:pt x="38" y="12"/>
                  <a:pt x="38" y="12"/>
                </a:cubicBezTo>
                <a:cubicBezTo>
                  <a:pt x="29" y="16"/>
                  <a:pt x="29" y="16"/>
                  <a:pt x="29" y="16"/>
                </a:cubicBezTo>
                <a:cubicBezTo>
                  <a:pt x="19" y="9"/>
                  <a:pt x="19" y="9"/>
                  <a:pt x="19" y="9"/>
                </a:cubicBezTo>
                <a:cubicBezTo>
                  <a:pt x="9" y="18"/>
                  <a:pt x="9" y="18"/>
                  <a:pt x="9" y="18"/>
                </a:cubicBezTo>
                <a:cubicBezTo>
                  <a:pt x="17" y="29"/>
                  <a:pt x="17" y="29"/>
                  <a:pt x="17" y="29"/>
                </a:cubicBezTo>
                <a:cubicBezTo>
                  <a:pt x="13" y="38"/>
                  <a:pt x="13" y="38"/>
                  <a:pt x="13" y="38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54"/>
                  <a:pt x="0" y="54"/>
                  <a:pt x="0" y="54"/>
                </a:cubicBezTo>
                <a:cubicBezTo>
                  <a:pt x="13" y="56"/>
                  <a:pt x="13" y="56"/>
                  <a:pt x="13" y="56"/>
                </a:cubicBezTo>
                <a:cubicBezTo>
                  <a:pt x="16" y="65"/>
                  <a:pt x="16" y="65"/>
                  <a:pt x="16" y="65"/>
                </a:cubicBezTo>
                <a:cubicBezTo>
                  <a:pt x="9" y="75"/>
                  <a:pt x="9" y="75"/>
                  <a:pt x="9" y="75"/>
                </a:cubicBezTo>
                <a:cubicBezTo>
                  <a:pt x="19" y="85"/>
                  <a:pt x="19" y="85"/>
                  <a:pt x="19" y="85"/>
                </a:cubicBezTo>
                <a:cubicBezTo>
                  <a:pt x="29" y="78"/>
                  <a:pt x="29" y="78"/>
                  <a:pt x="29" y="78"/>
                </a:cubicBezTo>
                <a:cubicBezTo>
                  <a:pt x="38" y="82"/>
                  <a:pt x="38" y="82"/>
                  <a:pt x="38" y="82"/>
                </a:cubicBezTo>
                <a:cubicBezTo>
                  <a:pt x="41" y="94"/>
                  <a:pt x="41" y="94"/>
                  <a:pt x="41" y="94"/>
                </a:cubicBezTo>
                <a:cubicBezTo>
                  <a:pt x="54" y="94"/>
                  <a:pt x="54" y="94"/>
                  <a:pt x="54" y="94"/>
                </a:cubicBezTo>
                <a:close/>
                <a:moveTo>
                  <a:pt x="72" y="43"/>
                </a:moveTo>
                <a:cubicBezTo>
                  <a:pt x="74" y="57"/>
                  <a:pt x="65" y="70"/>
                  <a:pt x="51" y="72"/>
                </a:cubicBezTo>
                <a:cubicBezTo>
                  <a:pt x="37" y="74"/>
                  <a:pt x="24" y="64"/>
                  <a:pt x="22" y="50"/>
                </a:cubicBezTo>
                <a:cubicBezTo>
                  <a:pt x="21" y="36"/>
                  <a:pt x="30" y="24"/>
                  <a:pt x="44" y="22"/>
                </a:cubicBezTo>
                <a:cubicBezTo>
                  <a:pt x="48" y="21"/>
                  <a:pt x="52" y="22"/>
                  <a:pt x="56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9" y="24"/>
                  <a:pt x="63" y="26"/>
                  <a:pt x="65" y="29"/>
                </a:cubicBezTo>
                <a:cubicBezTo>
                  <a:pt x="67" y="30"/>
                  <a:pt x="68" y="32"/>
                  <a:pt x="69" y="34"/>
                </a:cubicBezTo>
                <a:cubicBezTo>
                  <a:pt x="71" y="37"/>
                  <a:pt x="72" y="40"/>
                  <a:pt x="72" y="43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7" name="Freeform 16"/>
          <p:cNvSpPr>
            <a:spLocks noEditPoints="1"/>
          </p:cNvSpPr>
          <p:nvPr/>
        </p:nvSpPr>
        <p:spPr>
          <a:xfrm>
            <a:off x="6247468" y="5115727"/>
            <a:ext cx="387299" cy="438149"/>
          </a:xfrm>
          <a:custGeom>
            <a:avLst/>
            <a:gdLst>
              <a:gd name="T0" fmla="*/ 15 w 31"/>
              <a:gd name="T1" fmla="*/ 0 h 35"/>
              <a:gd name="T2" fmla="*/ 24 w 31"/>
              <a:gd name="T3" fmla="*/ 8 h 35"/>
              <a:gd name="T4" fmla="*/ 15 w 31"/>
              <a:gd name="T5" fmla="*/ 17 h 35"/>
              <a:gd name="T6" fmla="*/ 7 w 31"/>
              <a:gd name="T7" fmla="*/ 8 h 35"/>
              <a:gd name="T8" fmla="*/ 15 w 31"/>
              <a:gd name="T9" fmla="*/ 0 h 35"/>
              <a:gd name="T10" fmla="*/ 6 w 31"/>
              <a:gd name="T11" fmla="*/ 19 h 35"/>
              <a:gd name="T12" fmla="*/ 10 w 31"/>
              <a:gd name="T13" fmla="*/ 19 h 35"/>
              <a:gd name="T14" fmla="*/ 14 w 31"/>
              <a:gd name="T15" fmla="*/ 24 h 35"/>
              <a:gd name="T16" fmla="*/ 17 w 31"/>
              <a:gd name="T17" fmla="*/ 24 h 35"/>
              <a:gd name="T18" fmla="*/ 21 w 31"/>
              <a:gd name="T19" fmla="*/ 19 h 35"/>
              <a:gd name="T20" fmla="*/ 24 w 31"/>
              <a:gd name="T21" fmla="*/ 19 h 35"/>
              <a:gd name="T22" fmla="*/ 31 w 31"/>
              <a:gd name="T23" fmla="*/ 25 h 35"/>
              <a:gd name="T24" fmla="*/ 31 w 31"/>
              <a:gd name="T25" fmla="*/ 35 h 35"/>
              <a:gd name="T26" fmla="*/ 0 w 31"/>
              <a:gd name="T27" fmla="*/ 35 h 35"/>
              <a:gd name="T28" fmla="*/ 0 w 31"/>
              <a:gd name="T29" fmla="*/ 25 h 35"/>
              <a:gd name="T30" fmla="*/ 6 w 31"/>
              <a:gd name="T31" fmla="*/ 19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1" h="35">
                <a:moveTo>
                  <a:pt x="15" y="0"/>
                </a:moveTo>
                <a:cubicBezTo>
                  <a:pt x="20" y="0"/>
                  <a:pt x="24" y="4"/>
                  <a:pt x="24" y="8"/>
                </a:cubicBezTo>
                <a:cubicBezTo>
                  <a:pt x="24" y="13"/>
                  <a:pt x="20" y="17"/>
                  <a:pt x="15" y="17"/>
                </a:cubicBezTo>
                <a:cubicBezTo>
                  <a:pt x="11" y="17"/>
                  <a:pt x="7" y="13"/>
                  <a:pt x="7" y="8"/>
                </a:cubicBezTo>
                <a:cubicBezTo>
                  <a:pt x="7" y="4"/>
                  <a:pt x="11" y="0"/>
                  <a:pt x="15" y="0"/>
                </a:cubicBezTo>
                <a:close/>
                <a:moveTo>
                  <a:pt x="6" y="19"/>
                </a:moveTo>
                <a:cubicBezTo>
                  <a:pt x="10" y="19"/>
                  <a:pt x="10" y="19"/>
                  <a:pt x="10" y="19"/>
                </a:cubicBezTo>
                <a:cubicBezTo>
                  <a:pt x="14" y="24"/>
                  <a:pt x="14" y="24"/>
                  <a:pt x="14" y="24"/>
                </a:cubicBezTo>
                <a:cubicBezTo>
                  <a:pt x="15" y="26"/>
                  <a:pt x="16" y="26"/>
                  <a:pt x="17" y="24"/>
                </a:cubicBezTo>
                <a:cubicBezTo>
                  <a:pt x="21" y="19"/>
                  <a:pt x="21" y="19"/>
                  <a:pt x="21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8" y="19"/>
                  <a:pt x="31" y="21"/>
                  <a:pt x="31" y="25"/>
                </a:cubicBezTo>
                <a:cubicBezTo>
                  <a:pt x="31" y="35"/>
                  <a:pt x="31" y="35"/>
                  <a:pt x="31" y="35"/>
                </a:cubicBezTo>
                <a:cubicBezTo>
                  <a:pt x="26" y="35"/>
                  <a:pt x="5" y="35"/>
                  <a:pt x="0" y="3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1"/>
                  <a:pt x="3" y="19"/>
                  <a:pt x="6" y="19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9" name="Freeform 17"/>
          <p:cNvSpPr>
            <a:spLocks noEditPoints="1"/>
          </p:cNvSpPr>
          <p:nvPr/>
        </p:nvSpPr>
        <p:spPr>
          <a:xfrm>
            <a:off x="5847473" y="2088894"/>
            <a:ext cx="1174592" cy="1189567"/>
          </a:xfrm>
          <a:custGeom>
            <a:avLst/>
            <a:gdLst>
              <a:gd name="T0" fmla="*/ 54 w 94"/>
              <a:gd name="T1" fmla="*/ 95 h 95"/>
              <a:gd name="T2" fmla="*/ 56 w 94"/>
              <a:gd name="T3" fmla="*/ 82 h 95"/>
              <a:gd name="T4" fmla="*/ 65 w 94"/>
              <a:gd name="T5" fmla="*/ 78 h 95"/>
              <a:gd name="T6" fmla="*/ 75 w 94"/>
              <a:gd name="T7" fmla="*/ 86 h 95"/>
              <a:gd name="T8" fmla="*/ 85 w 94"/>
              <a:gd name="T9" fmla="*/ 76 h 95"/>
              <a:gd name="T10" fmla="*/ 78 w 94"/>
              <a:gd name="T11" fmla="*/ 66 h 95"/>
              <a:gd name="T12" fmla="*/ 82 w 94"/>
              <a:gd name="T13" fmla="*/ 56 h 95"/>
              <a:gd name="T14" fmla="*/ 94 w 94"/>
              <a:gd name="T15" fmla="*/ 54 h 95"/>
              <a:gd name="T16" fmla="*/ 94 w 94"/>
              <a:gd name="T17" fmla="*/ 41 h 95"/>
              <a:gd name="T18" fmla="*/ 82 w 94"/>
              <a:gd name="T19" fmla="*/ 38 h 95"/>
              <a:gd name="T20" fmla="*/ 81 w 94"/>
              <a:gd name="T21" fmla="*/ 37 h 95"/>
              <a:gd name="T22" fmla="*/ 81 w 94"/>
              <a:gd name="T23" fmla="*/ 37 h 95"/>
              <a:gd name="T24" fmla="*/ 80 w 94"/>
              <a:gd name="T25" fmla="*/ 34 h 95"/>
              <a:gd name="T26" fmla="*/ 79 w 94"/>
              <a:gd name="T27" fmla="*/ 32 h 95"/>
              <a:gd name="T28" fmla="*/ 79 w 94"/>
              <a:gd name="T29" fmla="*/ 32 h 95"/>
              <a:gd name="T30" fmla="*/ 78 w 94"/>
              <a:gd name="T31" fmla="*/ 29 h 95"/>
              <a:gd name="T32" fmla="*/ 85 w 94"/>
              <a:gd name="T33" fmla="*/ 19 h 95"/>
              <a:gd name="T34" fmla="*/ 75 w 94"/>
              <a:gd name="T35" fmla="*/ 9 h 95"/>
              <a:gd name="T36" fmla="*/ 65 w 94"/>
              <a:gd name="T37" fmla="*/ 16 h 95"/>
              <a:gd name="T38" fmla="*/ 56 w 94"/>
              <a:gd name="T39" fmla="*/ 13 h 95"/>
              <a:gd name="T40" fmla="*/ 54 w 94"/>
              <a:gd name="T41" fmla="*/ 0 h 95"/>
              <a:gd name="T42" fmla="*/ 40 w 94"/>
              <a:gd name="T43" fmla="*/ 0 h 95"/>
              <a:gd name="T44" fmla="*/ 38 w 94"/>
              <a:gd name="T45" fmla="*/ 13 h 95"/>
              <a:gd name="T46" fmla="*/ 29 w 94"/>
              <a:gd name="T47" fmla="*/ 16 h 95"/>
              <a:gd name="T48" fmla="*/ 18 w 94"/>
              <a:gd name="T49" fmla="*/ 9 h 95"/>
              <a:gd name="T50" fmla="*/ 9 w 94"/>
              <a:gd name="T51" fmla="*/ 19 h 95"/>
              <a:gd name="T52" fmla="*/ 16 w 94"/>
              <a:gd name="T53" fmla="*/ 29 h 95"/>
              <a:gd name="T54" fmla="*/ 12 w 94"/>
              <a:gd name="T55" fmla="*/ 38 h 95"/>
              <a:gd name="T56" fmla="*/ 0 w 94"/>
              <a:gd name="T57" fmla="*/ 41 h 95"/>
              <a:gd name="T58" fmla="*/ 0 w 94"/>
              <a:gd name="T59" fmla="*/ 54 h 95"/>
              <a:gd name="T60" fmla="*/ 12 w 94"/>
              <a:gd name="T61" fmla="*/ 56 h 95"/>
              <a:gd name="T62" fmla="*/ 16 w 94"/>
              <a:gd name="T63" fmla="*/ 66 h 95"/>
              <a:gd name="T64" fmla="*/ 9 w 94"/>
              <a:gd name="T65" fmla="*/ 76 h 95"/>
              <a:gd name="T66" fmla="*/ 18 w 94"/>
              <a:gd name="T67" fmla="*/ 86 h 95"/>
              <a:gd name="T68" fmla="*/ 29 w 94"/>
              <a:gd name="T69" fmla="*/ 78 h 95"/>
              <a:gd name="T70" fmla="*/ 38 w 94"/>
              <a:gd name="T71" fmla="*/ 82 h 95"/>
              <a:gd name="T72" fmla="*/ 40 w 94"/>
              <a:gd name="T73" fmla="*/ 95 h 95"/>
              <a:gd name="T74" fmla="*/ 54 w 94"/>
              <a:gd name="T75" fmla="*/ 95 h 95"/>
              <a:gd name="T76" fmla="*/ 72 w 94"/>
              <a:gd name="T77" fmla="*/ 44 h 95"/>
              <a:gd name="T78" fmla="*/ 50 w 94"/>
              <a:gd name="T79" fmla="*/ 72 h 95"/>
              <a:gd name="T80" fmla="*/ 22 w 94"/>
              <a:gd name="T81" fmla="*/ 51 h 95"/>
              <a:gd name="T82" fmla="*/ 44 w 94"/>
              <a:gd name="T83" fmla="*/ 22 h 95"/>
              <a:gd name="T84" fmla="*/ 55 w 94"/>
              <a:gd name="T85" fmla="*/ 24 h 95"/>
              <a:gd name="T86" fmla="*/ 55 w 94"/>
              <a:gd name="T87" fmla="*/ 24 h 95"/>
              <a:gd name="T88" fmla="*/ 65 w 94"/>
              <a:gd name="T89" fmla="*/ 30 h 95"/>
              <a:gd name="T90" fmla="*/ 69 w 94"/>
              <a:gd name="T91" fmla="*/ 35 h 95"/>
              <a:gd name="T92" fmla="*/ 72 w 94"/>
              <a:gd name="T93" fmla="*/ 44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94" h="95">
                <a:moveTo>
                  <a:pt x="54" y="95"/>
                </a:moveTo>
                <a:cubicBezTo>
                  <a:pt x="56" y="82"/>
                  <a:pt x="56" y="82"/>
                  <a:pt x="56" y="82"/>
                </a:cubicBezTo>
                <a:cubicBezTo>
                  <a:pt x="65" y="78"/>
                  <a:pt x="65" y="78"/>
                  <a:pt x="65" y="78"/>
                </a:cubicBezTo>
                <a:cubicBezTo>
                  <a:pt x="75" y="86"/>
                  <a:pt x="75" y="86"/>
                  <a:pt x="75" y="86"/>
                </a:cubicBezTo>
                <a:cubicBezTo>
                  <a:pt x="85" y="76"/>
                  <a:pt x="85" y="76"/>
                  <a:pt x="85" y="76"/>
                </a:cubicBezTo>
                <a:cubicBezTo>
                  <a:pt x="78" y="66"/>
                  <a:pt x="78" y="66"/>
                  <a:pt x="78" y="66"/>
                </a:cubicBezTo>
                <a:cubicBezTo>
                  <a:pt x="82" y="56"/>
                  <a:pt x="82" y="56"/>
                  <a:pt x="82" y="56"/>
                </a:cubicBezTo>
                <a:cubicBezTo>
                  <a:pt x="94" y="54"/>
                  <a:pt x="94" y="54"/>
                  <a:pt x="94" y="54"/>
                </a:cubicBezTo>
                <a:cubicBezTo>
                  <a:pt x="94" y="41"/>
                  <a:pt x="94" y="41"/>
                  <a:pt x="94" y="41"/>
                </a:cubicBezTo>
                <a:cubicBezTo>
                  <a:pt x="82" y="38"/>
                  <a:pt x="82" y="38"/>
                  <a:pt x="82" y="38"/>
                </a:cubicBezTo>
                <a:cubicBezTo>
                  <a:pt x="81" y="37"/>
                  <a:pt x="81" y="37"/>
                  <a:pt x="81" y="37"/>
                </a:cubicBezTo>
                <a:cubicBezTo>
                  <a:pt x="81" y="37"/>
                  <a:pt x="81" y="37"/>
                  <a:pt x="81" y="37"/>
                </a:cubicBezTo>
                <a:cubicBezTo>
                  <a:pt x="80" y="34"/>
                  <a:pt x="80" y="34"/>
                  <a:pt x="80" y="34"/>
                </a:cubicBezTo>
                <a:cubicBezTo>
                  <a:pt x="79" y="32"/>
                  <a:pt x="79" y="32"/>
                  <a:pt x="79" y="32"/>
                </a:cubicBezTo>
                <a:cubicBezTo>
                  <a:pt x="79" y="32"/>
                  <a:pt x="79" y="32"/>
                  <a:pt x="79" y="32"/>
                </a:cubicBezTo>
                <a:cubicBezTo>
                  <a:pt x="78" y="29"/>
                  <a:pt x="78" y="29"/>
                  <a:pt x="78" y="29"/>
                </a:cubicBezTo>
                <a:cubicBezTo>
                  <a:pt x="85" y="19"/>
                  <a:pt x="85" y="19"/>
                  <a:pt x="85" y="19"/>
                </a:cubicBezTo>
                <a:cubicBezTo>
                  <a:pt x="75" y="9"/>
                  <a:pt x="75" y="9"/>
                  <a:pt x="75" y="9"/>
                </a:cubicBezTo>
                <a:cubicBezTo>
                  <a:pt x="65" y="16"/>
                  <a:pt x="65" y="16"/>
                  <a:pt x="65" y="16"/>
                </a:cubicBezTo>
                <a:cubicBezTo>
                  <a:pt x="56" y="13"/>
                  <a:pt x="56" y="13"/>
                  <a:pt x="56" y="13"/>
                </a:cubicBezTo>
                <a:cubicBezTo>
                  <a:pt x="54" y="0"/>
                  <a:pt x="54" y="0"/>
                  <a:pt x="5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8" y="13"/>
                  <a:pt x="38" y="13"/>
                  <a:pt x="38" y="13"/>
                </a:cubicBezTo>
                <a:cubicBezTo>
                  <a:pt x="29" y="16"/>
                  <a:pt x="29" y="16"/>
                  <a:pt x="29" y="16"/>
                </a:cubicBezTo>
                <a:cubicBezTo>
                  <a:pt x="18" y="9"/>
                  <a:pt x="18" y="9"/>
                  <a:pt x="18" y="9"/>
                </a:cubicBezTo>
                <a:cubicBezTo>
                  <a:pt x="9" y="19"/>
                  <a:pt x="9" y="19"/>
                  <a:pt x="9" y="19"/>
                </a:cubicBezTo>
                <a:cubicBezTo>
                  <a:pt x="16" y="29"/>
                  <a:pt x="16" y="29"/>
                  <a:pt x="16" y="29"/>
                </a:cubicBezTo>
                <a:cubicBezTo>
                  <a:pt x="12" y="38"/>
                  <a:pt x="12" y="38"/>
                  <a:pt x="12" y="38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54"/>
                  <a:pt x="0" y="54"/>
                  <a:pt x="0" y="54"/>
                </a:cubicBezTo>
                <a:cubicBezTo>
                  <a:pt x="12" y="56"/>
                  <a:pt x="12" y="56"/>
                  <a:pt x="12" y="56"/>
                </a:cubicBezTo>
                <a:cubicBezTo>
                  <a:pt x="16" y="66"/>
                  <a:pt x="16" y="66"/>
                  <a:pt x="16" y="66"/>
                </a:cubicBezTo>
                <a:cubicBezTo>
                  <a:pt x="9" y="76"/>
                  <a:pt x="9" y="76"/>
                  <a:pt x="9" y="76"/>
                </a:cubicBezTo>
                <a:cubicBezTo>
                  <a:pt x="18" y="86"/>
                  <a:pt x="18" y="86"/>
                  <a:pt x="18" y="86"/>
                </a:cubicBezTo>
                <a:cubicBezTo>
                  <a:pt x="29" y="78"/>
                  <a:pt x="29" y="78"/>
                  <a:pt x="29" y="78"/>
                </a:cubicBezTo>
                <a:cubicBezTo>
                  <a:pt x="38" y="82"/>
                  <a:pt x="38" y="82"/>
                  <a:pt x="38" y="82"/>
                </a:cubicBezTo>
                <a:cubicBezTo>
                  <a:pt x="40" y="95"/>
                  <a:pt x="40" y="95"/>
                  <a:pt x="40" y="95"/>
                </a:cubicBezTo>
                <a:cubicBezTo>
                  <a:pt x="54" y="95"/>
                  <a:pt x="54" y="95"/>
                  <a:pt x="54" y="95"/>
                </a:cubicBezTo>
                <a:close/>
                <a:moveTo>
                  <a:pt x="72" y="44"/>
                </a:moveTo>
                <a:cubicBezTo>
                  <a:pt x="74" y="58"/>
                  <a:pt x="64" y="71"/>
                  <a:pt x="50" y="72"/>
                </a:cubicBezTo>
                <a:cubicBezTo>
                  <a:pt x="37" y="74"/>
                  <a:pt x="24" y="65"/>
                  <a:pt x="22" y="51"/>
                </a:cubicBezTo>
                <a:cubicBezTo>
                  <a:pt x="20" y="37"/>
                  <a:pt x="30" y="24"/>
                  <a:pt x="44" y="22"/>
                </a:cubicBezTo>
                <a:cubicBezTo>
                  <a:pt x="48" y="22"/>
                  <a:pt x="52" y="22"/>
                  <a:pt x="55" y="24"/>
                </a:cubicBezTo>
                <a:cubicBezTo>
                  <a:pt x="55" y="24"/>
                  <a:pt x="55" y="24"/>
                  <a:pt x="55" y="24"/>
                </a:cubicBezTo>
                <a:cubicBezTo>
                  <a:pt x="59" y="25"/>
                  <a:pt x="62" y="27"/>
                  <a:pt x="65" y="30"/>
                </a:cubicBezTo>
                <a:cubicBezTo>
                  <a:pt x="66" y="31"/>
                  <a:pt x="68" y="33"/>
                  <a:pt x="69" y="35"/>
                </a:cubicBezTo>
                <a:cubicBezTo>
                  <a:pt x="70" y="38"/>
                  <a:pt x="72" y="41"/>
                  <a:pt x="72" y="44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0" name="Freeform 18"/>
          <p:cNvSpPr>
            <a:spLocks noEditPoints="1"/>
          </p:cNvSpPr>
          <p:nvPr/>
        </p:nvSpPr>
        <p:spPr>
          <a:xfrm>
            <a:off x="6247468" y="2452961"/>
            <a:ext cx="374600" cy="436033"/>
          </a:xfrm>
          <a:custGeom>
            <a:avLst/>
            <a:gdLst>
              <a:gd name="T0" fmla="*/ 15 w 30"/>
              <a:gd name="T1" fmla="*/ 0 h 35"/>
              <a:gd name="T2" fmla="*/ 23 w 30"/>
              <a:gd name="T3" fmla="*/ 8 h 35"/>
              <a:gd name="T4" fmla="*/ 15 w 30"/>
              <a:gd name="T5" fmla="*/ 16 h 35"/>
              <a:gd name="T6" fmla="*/ 7 w 30"/>
              <a:gd name="T7" fmla="*/ 8 h 35"/>
              <a:gd name="T8" fmla="*/ 15 w 30"/>
              <a:gd name="T9" fmla="*/ 0 h 35"/>
              <a:gd name="T10" fmla="*/ 6 w 30"/>
              <a:gd name="T11" fmla="*/ 18 h 35"/>
              <a:gd name="T12" fmla="*/ 10 w 30"/>
              <a:gd name="T13" fmla="*/ 18 h 35"/>
              <a:gd name="T14" fmla="*/ 13 w 30"/>
              <a:gd name="T15" fmla="*/ 24 h 35"/>
              <a:gd name="T16" fmla="*/ 17 w 30"/>
              <a:gd name="T17" fmla="*/ 24 h 35"/>
              <a:gd name="T18" fmla="*/ 20 w 30"/>
              <a:gd name="T19" fmla="*/ 18 h 35"/>
              <a:gd name="T20" fmla="*/ 24 w 30"/>
              <a:gd name="T21" fmla="*/ 18 h 35"/>
              <a:gd name="T22" fmla="*/ 30 w 30"/>
              <a:gd name="T23" fmla="*/ 25 h 35"/>
              <a:gd name="T24" fmla="*/ 30 w 30"/>
              <a:gd name="T25" fmla="*/ 35 h 35"/>
              <a:gd name="T26" fmla="*/ 0 w 30"/>
              <a:gd name="T27" fmla="*/ 35 h 35"/>
              <a:gd name="T28" fmla="*/ 0 w 30"/>
              <a:gd name="T29" fmla="*/ 25 h 35"/>
              <a:gd name="T30" fmla="*/ 6 w 30"/>
              <a:gd name="T31" fmla="*/ 18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" h="35">
                <a:moveTo>
                  <a:pt x="15" y="0"/>
                </a:moveTo>
                <a:cubicBezTo>
                  <a:pt x="20" y="0"/>
                  <a:pt x="23" y="3"/>
                  <a:pt x="23" y="8"/>
                </a:cubicBezTo>
                <a:cubicBezTo>
                  <a:pt x="23" y="13"/>
                  <a:pt x="20" y="16"/>
                  <a:pt x="15" y="16"/>
                </a:cubicBezTo>
                <a:cubicBezTo>
                  <a:pt x="10" y="16"/>
                  <a:pt x="7" y="13"/>
                  <a:pt x="7" y="8"/>
                </a:cubicBezTo>
                <a:cubicBezTo>
                  <a:pt x="7" y="3"/>
                  <a:pt x="10" y="0"/>
                  <a:pt x="15" y="0"/>
                </a:cubicBezTo>
                <a:close/>
                <a:moveTo>
                  <a:pt x="6" y="18"/>
                </a:moveTo>
                <a:cubicBezTo>
                  <a:pt x="10" y="18"/>
                  <a:pt x="10" y="18"/>
                  <a:pt x="10" y="18"/>
                </a:cubicBezTo>
                <a:cubicBezTo>
                  <a:pt x="13" y="24"/>
                  <a:pt x="13" y="24"/>
                  <a:pt x="13" y="24"/>
                </a:cubicBezTo>
                <a:cubicBezTo>
                  <a:pt x="14" y="26"/>
                  <a:pt x="16" y="26"/>
                  <a:pt x="17" y="24"/>
                </a:cubicBezTo>
                <a:cubicBezTo>
                  <a:pt x="20" y="18"/>
                  <a:pt x="20" y="18"/>
                  <a:pt x="20" y="18"/>
                </a:cubicBezTo>
                <a:cubicBezTo>
                  <a:pt x="24" y="18"/>
                  <a:pt x="24" y="18"/>
                  <a:pt x="24" y="18"/>
                </a:cubicBezTo>
                <a:cubicBezTo>
                  <a:pt x="27" y="18"/>
                  <a:pt x="30" y="21"/>
                  <a:pt x="30" y="25"/>
                </a:cubicBezTo>
                <a:cubicBezTo>
                  <a:pt x="30" y="35"/>
                  <a:pt x="30" y="35"/>
                  <a:pt x="30" y="35"/>
                </a:cubicBezTo>
                <a:cubicBezTo>
                  <a:pt x="25" y="35"/>
                  <a:pt x="5" y="35"/>
                  <a:pt x="0" y="3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1"/>
                  <a:pt x="3" y="18"/>
                  <a:pt x="6" y="18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2" name="Freeform 19"/>
          <p:cNvSpPr>
            <a:spLocks noEditPoints="1"/>
          </p:cNvSpPr>
          <p:nvPr/>
        </p:nvSpPr>
        <p:spPr>
          <a:xfrm>
            <a:off x="4615022" y="3039279"/>
            <a:ext cx="1949188" cy="1951567"/>
          </a:xfrm>
          <a:custGeom>
            <a:avLst/>
            <a:gdLst>
              <a:gd name="T0" fmla="*/ 89 w 156"/>
              <a:gd name="T1" fmla="*/ 156 h 156"/>
              <a:gd name="T2" fmla="*/ 93 w 156"/>
              <a:gd name="T3" fmla="*/ 135 h 156"/>
              <a:gd name="T4" fmla="*/ 108 w 156"/>
              <a:gd name="T5" fmla="*/ 129 h 156"/>
              <a:gd name="T6" fmla="*/ 125 w 156"/>
              <a:gd name="T7" fmla="*/ 141 h 156"/>
              <a:gd name="T8" fmla="*/ 141 w 156"/>
              <a:gd name="T9" fmla="*/ 125 h 156"/>
              <a:gd name="T10" fmla="*/ 129 w 156"/>
              <a:gd name="T11" fmla="*/ 108 h 156"/>
              <a:gd name="T12" fmla="*/ 135 w 156"/>
              <a:gd name="T13" fmla="*/ 93 h 156"/>
              <a:gd name="T14" fmla="*/ 156 w 156"/>
              <a:gd name="T15" fmla="*/ 89 h 156"/>
              <a:gd name="T16" fmla="*/ 156 w 156"/>
              <a:gd name="T17" fmla="*/ 67 h 156"/>
              <a:gd name="T18" fmla="*/ 135 w 156"/>
              <a:gd name="T19" fmla="*/ 63 h 156"/>
              <a:gd name="T20" fmla="*/ 135 w 156"/>
              <a:gd name="T21" fmla="*/ 62 h 156"/>
              <a:gd name="T22" fmla="*/ 135 w 156"/>
              <a:gd name="T23" fmla="*/ 62 h 156"/>
              <a:gd name="T24" fmla="*/ 132 w 156"/>
              <a:gd name="T25" fmla="*/ 56 h 156"/>
              <a:gd name="T26" fmla="*/ 131 w 156"/>
              <a:gd name="T27" fmla="*/ 53 h 156"/>
              <a:gd name="T28" fmla="*/ 131 w 156"/>
              <a:gd name="T29" fmla="*/ 53 h 156"/>
              <a:gd name="T30" fmla="*/ 129 w 156"/>
              <a:gd name="T31" fmla="*/ 48 h 156"/>
              <a:gd name="T32" fmla="*/ 141 w 156"/>
              <a:gd name="T33" fmla="*/ 31 h 156"/>
              <a:gd name="T34" fmla="*/ 125 w 156"/>
              <a:gd name="T35" fmla="*/ 15 h 156"/>
              <a:gd name="T36" fmla="*/ 108 w 156"/>
              <a:gd name="T37" fmla="*/ 27 h 156"/>
              <a:gd name="T38" fmla="*/ 93 w 156"/>
              <a:gd name="T39" fmla="*/ 21 h 156"/>
              <a:gd name="T40" fmla="*/ 89 w 156"/>
              <a:gd name="T41" fmla="*/ 0 h 156"/>
              <a:gd name="T42" fmla="*/ 67 w 156"/>
              <a:gd name="T43" fmla="*/ 0 h 156"/>
              <a:gd name="T44" fmla="*/ 63 w 156"/>
              <a:gd name="T45" fmla="*/ 21 h 156"/>
              <a:gd name="T46" fmla="*/ 48 w 156"/>
              <a:gd name="T47" fmla="*/ 27 h 156"/>
              <a:gd name="T48" fmla="*/ 31 w 156"/>
              <a:gd name="T49" fmla="*/ 15 h 156"/>
              <a:gd name="T50" fmla="*/ 15 w 156"/>
              <a:gd name="T51" fmla="*/ 31 h 156"/>
              <a:gd name="T52" fmla="*/ 27 w 156"/>
              <a:gd name="T53" fmla="*/ 48 h 156"/>
              <a:gd name="T54" fmla="*/ 21 w 156"/>
              <a:gd name="T55" fmla="*/ 63 h 156"/>
              <a:gd name="T56" fmla="*/ 0 w 156"/>
              <a:gd name="T57" fmla="*/ 67 h 156"/>
              <a:gd name="T58" fmla="*/ 0 w 156"/>
              <a:gd name="T59" fmla="*/ 89 h 156"/>
              <a:gd name="T60" fmla="*/ 21 w 156"/>
              <a:gd name="T61" fmla="*/ 93 h 156"/>
              <a:gd name="T62" fmla="*/ 27 w 156"/>
              <a:gd name="T63" fmla="*/ 108 h 156"/>
              <a:gd name="T64" fmla="*/ 15 w 156"/>
              <a:gd name="T65" fmla="*/ 125 h 156"/>
              <a:gd name="T66" fmla="*/ 31 w 156"/>
              <a:gd name="T67" fmla="*/ 141 h 156"/>
              <a:gd name="T68" fmla="*/ 48 w 156"/>
              <a:gd name="T69" fmla="*/ 129 h 156"/>
              <a:gd name="T70" fmla="*/ 63 w 156"/>
              <a:gd name="T71" fmla="*/ 135 h 156"/>
              <a:gd name="T72" fmla="*/ 67 w 156"/>
              <a:gd name="T73" fmla="*/ 156 h 156"/>
              <a:gd name="T74" fmla="*/ 89 w 156"/>
              <a:gd name="T75" fmla="*/ 156 h 156"/>
              <a:gd name="T76" fmla="*/ 119 w 156"/>
              <a:gd name="T77" fmla="*/ 72 h 156"/>
              <a:gd name="T78" fmla="*/ 84 w 156"/>
              <a:gd name="T79" fmla="*/ 119 h 156"/>
              <a:gd name="T80" fmla="*/ 37 w 156"/>
              <a:gd name="T81" fmla="*/ 84 h 156"/>
              <a:gd name="T82" fmla="*/ 72 w 156"/>
              <a:gd name="T83" fmla="*/ 37 h 156"/>
              <a:gd name="T84" fmla="*/ 92 w 156"/>
              <a:gd name="T85" fmla="*/ 39 h 156"/>
              <a:gd name="T86" fmla="*/ 92 w 156"/>
              <a:gd name="T87" fmla="*/ 39 h 156"/>
              <a:gd name="T88" fmla="*/ 107 w 156"/>
              <a:gd name="T89" fmla="*/ 49 h 156"/>
              <a:gd name="T90" fmla="*/ 114 w 156"/>
              <a:gd name="T91" fmla="*/ 57 h 156"/>
              <a:gd name="T92" fmla="*/ 119 w 156"/>
              <a:gd name="T93" fmla="*/ 72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6" h="156">
                <a:moveTo>
                  <a:pt x="89" y="156"/>
                </a:moveTo>
                <a:cubicBezTo>
                  <a:pt x="93" y="135"/>
                  <a:pt x="93" y="135"/>
                  <a:pt x="93" y="135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41" y="125"/>
                  <a:pt x="141" y="125"/>
                  <a:pt x="141" y="125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6" y="67"/>
                  <a:pt x="156" y="67"/>
                  <a:pt x="156" y="67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5" y="62"/>
                  <a:pt x="135" y="62"/>
                  <a:pt x="135" y="62"/>
                </a:cubicBezTo>
                <a:cubicBezTo>
                  <a:pt x="135" y="62"/>
                  <a:pt x="135" y="62"/>
                  <a:pt x="135" y="62"/>
                </a:cubicBezTo>
                <a:cubicBezTo>
                  <a:pt x="132" y="56"/>
                  <a:pt x="132" y="56"/>
                  <a:pt x="132" y="56"/>
                </a:cubicBezTo>
                <a:cubicBezTo>
                  <a:pt x="131" y="53"/>
                  <a:pt x="131" y="53"/>
                  <a:pt x="131" y="53"/>
                </a:cubicBezTo>
                <a:cubicBezTo>
                  <a:pt x="131" y="53"/>
                  <a:pt x="131" y="53"/>
                  <a:pt x="131" y="53"/>
                </a:cubicBezTo>
                <a:cubicBezTo>
                  <a:pt x="129" y="48"/>
                  <a:pt x="129" y="48"/>
                  <a:pt x="129" y="48"/>
                </a:cubicBezTo>
                <a:cubicBezTo>
                  <a:pt x="141" y="31"/>
                  <a:pt x="141" y="31"/>
                  <a:pt x="141" y="31"/>
                </a:cubicBezTo>
                <a:cubicBezTo>
                  <a:pt x="125" y="15"/>
                  <a:pt x="125" y="15"/>
                  <a:pt x="125" y="15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93" y="21"/>
                  <a:pt x="93" y="21"/>
                  <a:pt x="93" y="21"/>
                </a:cubicBezTo>
                <a:cubicBezTo>
                  <a:pt x="89" y="0"/>
                  <a:pt x="89" y="0"/>
                  <a:pt x="89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3" y="21"/>
                  <a:pt x="63" y="21"/>
                  <a:pt x="63" y="21"/>
                </a:cubicBezTo>
                <a:cubicBezTo>
                  <a:pt x="48" y="27"/>
                  <a:pt x="48" y="27"/>
                  <a:pt x="48" y="27"/>
                </a:cubicBezTo>
                <a:cubicBezTo>
                  <a:pt x="31" y="15"/>
                  <a:pt x="31" y="15"/>
                  <a:pt x="31" y="15"/>
                </a:cubicBezTo>
                <a:cubicBezTo>
                  <a:pt x="15" y="31"/>
                  <a:pt x="15" y="31"/>
                  <a:pt x="15" y="31"/>
                </a:cubicBezTo>
                <a:cubicBezTo>
                  <a:pt x="27" y="48"/>
                  <a:pt x="27" y="48"/>
                  <a:pt x="27" y="48"/>
                </a:cubicBezTo>
                <a:cubicBezTo>
                  <a:pt x="21" y="63"/>
                  <a:pt x="21" y="63"/>
                  <a:pt x="21" y="63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89"/>
                  <a:pt x="0" y="89"/>
                  <a:pt x="0" y="89"/>
                </a:cubicBezTo>
                <a:cubicBezTo>
                  <a:pt x="21" y="93"/>
                  <a:pt x="21" y="93"/>
                  <a:pt x="21" y="93"/>
                </a:cubicBezTo>
                <a:cubicBezTo>
                  <a:pt x="27" y="108"/>
                  <a:pt x="27" y="108"/>
                  <a:pt x="27" y="108"/>
                </a:cubicBezTo>
                <a:cubicBezTo>
                  <a:pt x="15" y="125"/>
                  <a:pt x="15" y="125"/>
                  <a:pt x="15" y="125"/>
                </a:cubicBezTo>
                <a:cubicBezTo>
                  <a:pt x="31" y="141"/>
                  <a:pt x="31" y="141"/>
                  <a:pt x="31" y="141"/>
                </a:cubicBezTo>
                <a:cubicBezTo>
                  <a:pt x="48" y="129"/>
                  <a:pt x="48" y="129"/>
                  <a:pt x="48" y="129"/>
                </a:cubicBezTo>
                <a:cubicBezTo>
                  <a:pt x="63" y="135"/>
                  <a:pt x="63" y="135"/>
                  <a:pt x="63" y="135"/>
                </a:cubicBezTo>
                <a:cubicBezTo>
                  <a:pt x="67" y="156"/>
                  <a:pt x="67" y="156"/>
                  <a:pt x="67" y="156"/>
                </a:cubicBezTo>
                <a:cubicBezTo>
                  <a:pt x="89" y="156"/>
                  <a:pt x="89" y="156"/>
                  <a:pt x="89" y="156"/>
                </a:cubicBezTo>
                <a:close/>
                <a:moveTo>
                  <a:pt x="119" y="72"/>
                </a:moveTo>
                <a:cubicBezTo>
                  <a:pt x="122" y="95"/>
                  <a:pt x="106" y="116"/>
                  <a:pt x="84" y="119"/>
                </a:cubicBezTo>
                <a:cubicBezTo>
                  <a:pt x="61" y="122"/>
                  <a:pt x="40" y="106"/>
                  <a:pt x="37" y="84"/>
                </a:cubicBezTo>
                <a:cubicBezTo>
                  <a:pt x="34" y="61"/>
                  <a:pt x="50" y="40"/>
                  <a:pt x="72" y="37"/>
                </a:cubicBezTo>
                <a:cubicBezTo>
                  <a:pt x="79" y="36"/>
                  <a:pt x="86" y="37"/>
                  <a:pt x="92" y="39"/>
                </a:cubicBezTo>
                <a:cubicBezTo>
                  <a:pt x="92" y="39"/>
                  <a:pt x="92" y="39"/>
                  <a:pt x="92" y="39"/>
                </a:cubicBezTo>
                <a:cubicBezTo>
                  <a:pt x="98" y="41"/>
                  <a:pt x="103" y="44"/>
                  <a:pt x="107" y="49"/>
                </a:cubicBezTo>
                <a:cubicBezTo>
                  <a:pt x="110" y="51"/>
                  <a:pt x="112" y="54"/>
                  <a:pt x="114" y="57"/>
                </a:cubicBezTo>
                <a:cubicBezTo>
                  <a:pt x="117" y="62"/>
                  <a:pt x="119" y="67"/>
                  <a:pt x="119" y="72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3" name="Freeform 20"/>
          <p:cNvSpPr>
            <a:spLocks noEditPoints="1"/>
          </p:cNvSpPr>
          <p:nvPr/>
        </p:nvSpPr>
        <p:spPr>
          <a:xfrm>
            <a:off x="5277450" y="3627712"/>
            <a:ext cx="624333" cy="726016"/>
          </a:xfrm>
          <a:custGeom>
            <a:avLst/>
            <a:gdLst>
              <a:gd name="T0" fmla="*/ 25 w 50"/>
              <a:gd name="T1" fmla="*/ 0 h 58"/>
              <a:gd name="T2" fmla="*/ 39 w 50"/>
              <a:gd name="T3" fmla="*/ 14 h 58"/>
              <a:gd name="T4" fmla="*/ 25 w 50"/>
              <a:gd name="T5" fmla="*/ 28 h 58"/>
              <a:gd name="T6" fmla="*/ 11 w 50"/>
              <a:gd name="T7" fmla="*/ 14 h 58"/>
              <a:gd name="T8" fmla="*/ 25 w 50"/>
              <a:gd name="T9" fmla="*/ 0 h 58"/>
              <a:gd name="T10" fmla="*/ 10 w 50"/>
              <a:gd name="T11" fmla="*/ 31 h 58"/>
              <a:gd name="T12" fmla="*/ 16 w 50"/>
              <a:gd name="T13" fmla="*/ 31 h 58"/>
              <a:gd name="T14" fmla="*/ 22 w 50"/>
              <a:gd name="T15" fmla="*/ 40 h 58"/>
              <a:gd name="T16" fmla="*/ 28 w 50"/>
              <a:gd name="T17" fmla="*/ 40 h 58"/>
              <a:gd name="T18" fmla="*/ 34 w 50"/>
              <a:gd name="T19" fmla="*/ 31 h 58"/>
              <a:gd name="T20" fmla="*/ 40 w 50"/>
              <a:gd name="T21" fmla="*/ 31 h 58"/>
              <a:gd name="T22" fmla="*/ 50 w 50"/>
              <a:gd name="T23" fmla="*/ 41 h 58"/>
              <a:gd name="T24" fmla="*/ 50 w 50"/>
              <a:gd name="T25" fmla="*/ 58 h 58"/>
              <a:gd name="T26" fmla="*/ 0 w 50"/>
              <a:gd name="T27" fmla="*/ 58 h 58"/>
              <a:gd name="T28" fmla="*/ 0 w 50"/>
              <a:gd name="T29" fmla="*/ 41 h 58"/>
              <a:gd name="T30" fmla="*/ 10 w 50"/>
              <a:gd name="T31" fmla="*/ 31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0" h="58">
                <a:moveTo>
                  <a:pt x="25" y="0"/>
                </a:moveTo>
                <a:cubicBezTo>
                  <a:pt x="33" y="0"/>
                  <a:pt x="39" y="6"/>
                  <a:pt x="39" y="14"/>
                </a:cubicBezTo>
                <a:cubicBezTo>
                  <a:pt x="39" y="21"/>
                  <a:pt x="33" y="28"/>
                  <a:pt x="25" y="28"/>
                </a:cubicBezTo>
                <a:cubicBezTo>
                  <a:pt x="17" y="28"/>
                  <a:pt x="11" y="21"/>
                  <a:pt x="11" y="14"/>
                </a:cubicBezTo>
                <a:cubicBezTo>
                  <a:pt x="11" y="6"/>
                  <a:pt x="17" y="0"/>
                  <a:pt x="25" y="0"/>
                </a:cubicBezTo>
                <a:close/>
                <a:moveTo>
                  <a:pt x="10" y="31"/>
                </a:moveTo>
                <a:cubicBezTo>
                  <a:pt x="16" y="31"/>
                  <a:pt x="16" y="31"/>
                  <a:pt x="16" y="31"/>
                </a:cubicBezTo>
                <a:cubicBezTo>
                  <a:pt x="22" y="40"/>
                  <a:pt x="22" y="40"/>
                  <a:pt x="22" y="40"/>
                </a:cubicBezTo>
                <a:cubicBezTo>
                  <a:pt x="24" y="43"/>
                  <a:pt x="26" y="43"/>
                  <a:pt x="28" y="40"/>
                </a:cubicBezTo>
                <a:cubicBezTo>
                  <a:pt x="34" y="31"/>
                  <a:pt x="34" y="31"/>
                  <a:pt x="34" y="31"/>
                </a:cubicBezTo>
                <a:cubicBezTo>
                  <a:pt x="40" y="31"/>
                  <a:pt x="40" y="31"/>
                  <a:pt x="40" y="31"/>
                </a:cubicBezTo>
                <a:cubicBezTo>
                  <a:pt x="45" y="31"/>
                  <a:pt x="50" y="36"/>
                  <a:pt x="50" y="41"/>
                </a:cubicBezTo>
                <a:cubicBezTo>
                  <a:pt x="50" y="58"/>
                  <a:pt x="50" y="58"/>
                  <a:pt x="50" y="58"/>
                </a:cubicBezTo>
                <a:cubicBezTo>
                  <a:pt x="42" y="58"/>
                  <a:pt x="8" y="58"/>
                  <a:pt x="0" y="58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36"/>
                  <a:pt x="5" y="31"/>
                  <a:pt x="10" y="31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121883" tIns="60941" rIns="121883" bIns="60941" numCol="1" anchor="t" anchorCtr="0" compatLnSpc="1"/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4" name="任意多边形 13"/>
          <p:cNvSpPr/>
          <p:nvPr/>
        </p:nvSpPr>
        <p:spPr>
          <a:xfrm>
            <a:off x="6940220" y="2888567"/>
            <a:ext cx="3774337" cy="302509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7" tIns="60953" rIns="121907" bIns="60953" rtlCol="0" anchor="ctr"/>
          <a:lstStyle>
            <a:defPPr>
              <a:defRPr lang="zh-CN"/>
            </a:defPPr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6096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12192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8288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24377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30473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36569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42665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48761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/>
        </p:txBody>
      </p:sp>
      <p:sp>
        <p:nvSpPr>
          <p:cNvPr id="15" name="任意多边形 14"/>
          <p:cNvSpPr/>
          <p:nvPr/>
        </p:nvSpPr>
        <p:spPr>
          <a:xfrm>
            <a:off x="6940220" y="5786439"/>
            <a:ext cx="3774337" cy="302509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7" tIns="60953" rIns="121907" bIns="60953" rtlCol="0" anchor="ctr"/>
          <a:lstStyle>
            <a:defPPr>
              <a:defRPr lang="zh-CN"/>
            </a:defPPr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6096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12192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8288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24377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30473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36569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42665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48761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/>
        </p:txBody>
      </p:sp>
      <p:sp>
        <p:nvSpPr>
          <p:cNvPr id="16" name="任意多边形 15"/>
          <p:cNvSpPr/>
          <p:nvPr/>
        </p:nvSpPr>
        <p:spPr>
          <a:xfrm flipH="1">
            <a:off x="970970" y="4294568"/>
            <a:ext cx="3837519" cy="340864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21907" tIns="60953" rIns="121907" bIns="60953" rtlCol="0" anchor="ctr"/>
          <a:lstStyle>
            <a:defPPr>
              <a:defRPr lang="zh-CN"/>
            </a:defPPr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1pPr>
            <a:lvl2pPr marL="6096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2pPr>
            <a:lvl3pPr marL="12192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3pPr>
            <a:lvl4pPr marL="182880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4pPr>
            <a:lvl5pPr marL="24377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5pPr>
            <a:lvl6pPr marL="30473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6pPr>
            <a:lvl7pPr marL="36569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7pPr>
            <a:lvl8pPr marL="42665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8pPr>
            <a:lvl9pPr marL="4876165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000000"/>
                </a:solidFill>
                <a:uLnTx/>
                <a:uFillTx/>
                <a:latin typeface="等线" panose="02010600030101010101" charset="-122"/>
                <a:cs typeface="+mn-cs"/>
              </a:defRPr>
            </a:lvl9pPr>
          </a:lstStyle>
          <a:p/>
        </p:txBody>
      </p:sp>
      <p:sp>
        <p:nvSpPr>
          <p:cNvPr id="17" name="矩形 16"/>
          <p:cNvSpPr/>
          <p:nvPr/>
        </p:nvSpPr>
        <p:spPr>
          <a:xfrm>
            <a:off x="7302858" y="1700809"/>
            <a:ext cx="3497031" cy="1338471"/>
          </a:xfrm>
          <a:prstGeom prst="rect">
            <a:avLst/>
          </a:prstGeom>
        </p:spPr>
        <p:txBody>
          <a:bodyPr wrap="square" lIns="121907" tIns="60953" rIns="121907" bIns="60953" anchor="b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>
              <a:lnSpc>
                <a:spcPts val="1865"/>
              </a:lnSpc>
            </a:pPr>
            <a:r>
              <a:rPr lang="zh-CN" altLang="en-US" sz="1865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辅导员职业要求具备较高的教育背景和专业素养</a:t>
            </a:r>
            <a:endParaRPr lang="zh-CN" altLang="en-US" sz="1865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85905" y="4581129"/>
            <a:ext cx="3497031" cy="1360100"/>
          </a:xfrm>
          <a:prstGeom prst="rect">
            <a:avLst/>
          </a:prstGeom>
        </p:spPr>
        <p:txBody>
          <a:bodyPr wrap="square" lIns="121907" tIns="60953" rIns="121907" bIns="60953" anchor="b">
            <a:norm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>
              <a:lnSpc>
                <a:spcPts val="1865"/>
              </a:lnSpc>
            </a:pPr>
            <a:r>
              <a:rPr lang="zh-CN" altLang="en-US" sz="1865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此外，辅导员还需要接受过系统的专业培训，掌握一定的教育教学方法和技巧，能够独立承担起学生的思想政治教育和学业指导等工作</a:t>
            </a:r>
            <a:endParaRPr lang="zh-CN" altLang="en-US" sz="1865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4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 prLst="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dvAuto="0"/>
      <p:bldP spid="14" grpId="1" advAuto="0"/>
      <p:bldP spid="15" grpId="2" advAuto="0"/>
      <p:bldP spid="16" grpId="3" advAuto="0"/>
      <p:bldP spid="17" grpId="4" advAuto="0"/>
      <p:bldP spid="19" grpId="5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485341" y="1898344"/>
            <a:ext cx="847505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第2部分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职业资格与认证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1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14342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4343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4344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4346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职业资格与认证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339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838200" y="13468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1pPr>
            <a:lvl2pPr marL="60833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2pPr>
            <a:lvl3pPr marL="121793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182753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4pPr>
            <a:lvl5pPr marL="243713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8pPr>
          </a:lstStyle>
          <a:p>
            <a:fld id="{73B25E68-99F1-4046-B09B-134B52642AC8}" type="datetimeFigureOut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610600" y="13468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1pPr>
            <a:lvl2pPr marL="60833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2pPr>
            <a:lvl3pPr marL="121793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182753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4pPr>
            <a:lvl5pPr marL="243713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8pPr>
          </a:lstStyle>
          <a:p>
            <a:fld id="{3E3CA578-6D8C-4084-809D-66D25A20E1A2}" type="slidenum">
              <a:rPr lang="zh-CN" altLang="en-US">
                <a:latin typeface="宋体" panose="02010600030101010101" pitchFamily="2" charset="-122"/>
                <a:sym typeface="宋体" panose="02010600030101010101" pitchFamily="2" charset="-122"/>
              </a:rPr>
            </a:fld>
            <a:endParaRPr lang="zh-CN" altLang="en-US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" name="Shape 439"/>
          <p:cNvSpPr/>
          <p:nvPr/>
        </p:nvSpPr>
        <p:spPr>
          <a:xfrm rot="7995305">
            <a:off x="1253814" y="2267251"/>
            <a:ext cx="2262439" cy="9708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9" y="0"/>
                </a:moveTo>
                <a:cubicBezTo>
                  <a:pt x="4265" y="0"/>
                  <a:pt x="2471" y="3346"/>
                  <a:pt x="1925" y="7895"/>
                </a:cubicBezTo>
                <a:cubicBezTo>
                  <a:pt x="1838" y="8621"/>
                  <a:pt x="1556" y="9122"/>
                  <a:pt x="1232" y="9122"/>
                </a:cubicBezTo>
                <a:lnTo>
                  <a:pt x="0" y="9122"/>
                </a:lnTo>
                <a:lnTo>
                  <a:pt x="0" y="12478"/>
                </a:lnTo>
                <a:lnTo>
                  <a:pt x="1232" y="12478"/>
                </a:lnTo>
                <a:cubicBezTo>
                  <a:pt x="1555" y="12478"/>
                  <a:pt x="1838" y="12980"/>
                  <a:pt x="1925" y="13705"/>
                </a:cubicBezTo>
                <a:cubicBezTo>
                  <a:pt x="2471" y="18253"/>
                  <a:pt x="4265" y="21599"/>
                  <a:pt x="6389" y="21600"/>
                </a:cubicBezTo>
                <a:cubicBezTo>
                  <a:pt x="8513" y="21600"/>
                  <a:pt x="10309" y="18255"/>
                  <a:pt x="10854" y="13705"/>
                </a:cubicBezTo>
                <a:cubicBezTo>
                  <a:pt x="10941" y="12981"/>
                  <a:pt x="11224" y="12478"/>
                  <a:pt x="11547" y="12478"/>
                </a:cubicBezTo>
                <a:cubicBezTo>
                  <a:pt x="11547" y="12478"/>
                  <a:pt x="21600" y="12478"/>
                  <a:pt x="21600" y="12478"/>
                </a:cubicBezTo>
                <a:lnTo>
                  <a:pt x="21600" y="9122"/>
                </a:lnTo>
                <a:lnTo>
                  <a:pt x="11549" y="9122"/>
                </a:lnTo>
                <a:cubicBezTo>
                  <a:pt x="11225" y="9122"/>
                  <a:pt x="10941" y="8622"/>
                  <a:pt x="10854" y="7895"/>
                </a:cubicBezTo>
                <a:cubicBezTo>
                  <a:pt x="10644" y="6124"/>
                  <a:pt x="10241" y="4500"/>
                  <a:pt x="9668" y="3165"/>
                </a:cubicBezTo>
                <a:cubicBezTo>
                  <a:pt x="8793" y="1124"/>
                  <a:pt x="7627" y="0"/>
                  <a:pt x="6389" y="0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511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3035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4559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6083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2" name="椭圆 41"/>
          <p:cNvSpPr/>
          <p:nvPr/>
        </p:nvSpPr>
        <p:spPr>
          <a:xfrm>
            <a:off x="1162141" y="3473116"/>
            <a:ext cx="562708" cy="562708"/>
          </a:xfrm>
          <a:prstGeom prst="ellipse">
            <a:avLst/>
          </a:prstGeom>
          <a:solidFill>
            <a:srgbClr val="0000FF"/>
          </a:solidFill>
          <a:ln w="28575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9pPr>
          </a:lstStyle>
          <a:p>
            <a:pPr algn="ctr"/>
            <a:r>
              <a:rPr lang="zh-CN" altLang="zh-CN" b="0" i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endParaRPr lang="zh-CN" altLang="en-US" b="0" i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" name="KSO_Shape"/>
          <p:cNvSpPr/>
          <p:nvPr/>
        </p:nvSpPr>
        <p:spPr>
          <a:xfrm>
            <a:off x="2427237" y="2168910"/>
            <a:ext cx="551274" cy="475933"/>
          </a:xfrm>
          <a:custGeom>
            <a:avLst/>
            <a:gdLst>
              <a:gd name="T0" fmla="*/ 1814848 w 5325"/>
              <a:gd name="T1" fmla="*/ 1012065 h 4595"/>
              <a:gd name="T2" fmla="*/ 90510 w 5325"/>
              <a:gd name="T3" fmla="*/ 0 h 4595"/>
              <a:gd name="T4" fmla="*/ 0 w 5325"/>
              <a:gd name="T5" fmla="*/ 1012065 h 4595"/>
              <a:gd name="T6" fmla="*/ 459346 w 5325"/>
              <a:gd name="T7" fmla="*/ 1169473 h 4595"/>
              <a:gd name="T8" fmla="*/ 502276 w 5325"/>
              <a:gd name="T9" fmla="*/ 1643845 h 4595"/>
              <a:gd name="T10" fmla="*/ 630349 w 5325"/>
              <a:gd name="T11" fmla="*/ 1169473 h 4595"/>
              <a:gd name="T12" fmla="*/ 1275366 w 5325"/>
              <a:gd name="T13" fmla="*/ 1169473 h 4595"/>
              <a:gd name="T14" fmla="*/ 1403439 w 5325"/>
              <a:gd name="T15" fmla="*/ 1643845 h 4595"/>
              <a:gd name="T16" fmla="*/ 1446011 w 5325"/>
              <a:gd name="T17" fmla="*/ 1169473 h 4595"/>
              <a:gd name="T18" fmla="*/ 1905000 w 5325"/>
              <a:gd name="T19" fmla="*/ 1012065 h 4595"/>
              <a:gd name="T20" fmla="*/ 1653862 w 5325"/>
              <a:gd name="T21" fmla="*/ 977363 h 4595"/>
              <a:gd name="T22" fmla="*/ 1653504 w 5325"/>
              <a:gd name="T23" fmla="*/ 984518 h 4595"/>
              <a:gd name="T24" fmla="*/ 1651000 w 5325"/>
              <a:gd name="T25" fmla="*/ 990958 h 4595"/>
              <a:gd name="T26" fmla="*/ 1648138 w 5325"/>
              <a:gd name="T27" fmla="*/ 996682 h 4595"/>
              <a:gd name="T28" fmla="*/ 1643845 w 5325"/>
              <a:gd name="T29" fmla="*/ 1002048 h 4595"/>
              <a:gd name="T30" fmla="*/ 1638837 w 5325"/>
              <a:gd name="T31" fmla="*/ 1005983 h 4595"/>
              <a:gd name="T32" fmla="*/ 1632755 w 5325"/>
              <a:gd name="T33" fmla="*/ 1009561 h 4595"/>
              <a:gd name="T34" fmla="*/ 1626673 w 5325"/>
              <a:gd name="T35" fmla="*/ 1011349 h 4595"/>
              <a:gd name="T36" fmla="*/ 1619518 w 5325"/>
              <a:gd name="T37" fmla="*/ 1012065 h 4595"/>
              <a:gd name="T38" fmla="*/ 1149439 w 5325"/>
              <a:gd name="T39" fmla="*/ 1012065 h 4595"/>
              <a:gd name="T40" fmla="*/ 1142642 w 5325"/>
              <a:gd name="T41" fmla="*/ 1011349 h 4595"/>
              <a:gd name="T42" fmla="*/ 1135845 w 5325"/>
              <a:gd name="T43" fmla="*/ 1009561 h 4595"/>
              <a:gd name="T44" fmla="*/ 1130121 w 5325"/>
              <a:gd name="T45" fmla="*/ 1005983 h 4595"/>
              <a:gd name="T46" fmla="*/ 1125470 w 5325"/>
              <a:gd name="T47" fmla="*/ 1002048 h 4595"/>
              <a:gd name="T48" fmla="*/ 1120820 w 5325"/>
              <a:gd name="T49" fmla="*/ 996682 h 4595"/>
              <a:gd name="T50" fmla="*/ 1117958 w 5325"/>
              <a:gd name="T51" fmla="*/ 990958 h 4595"/>
              <a:gd name="T52" fmla="*/ 1115811 w 5325"/>
              <a:gd name="T53" fmla="*/ 984518 h 4595"/>
              <a:gd name="T54" fmla="*/ 1115454 w 5325"/>
              <a:gd name="T55" fmla="*/ 977363 h 4595"/>
              <a:gd name="T56" fmla="*/ 1115454 w 5325"/>
              <a:gd name="T57" fmla="*/ 731592 h 4595"/>
              <a:gd name="T58" fmla="*/ 1115811 w 5325"/>
              <a:gd name="T59" fmla="*/ 724437 h 4595"/>
              <a:gd name="T60" fmla="*/ 1117958 w 5325"/>
              <a:gd name="T61" fmla="*/ 718355 h 4595"/>
              <a:gd name="T62" fmla="*/ 1120820 w 5325"/>
              <a:gd name="T63" fmla="*/ 712273 h 4595"/>
              <a:gd name="T64" fmla="*/ 1125470 w 5325"/>
              <a:gd name="T65" fmla="*/ 707265 h 4595"/>
              <a:gd name="T66" fmla="*/ 1130121 w 5325"/>
              <a:gd name="T67" fmla="*/ 702972 h 4595"/>
              <a:gd name="T68" fmla="*/ 1135845 w 5325"/>
              <a:gd name="T69" fmla="*/ 699752 h 4595"/>
              <a:gd name="T70" fmla="*/ 1142642 w 5325"/>
              <a:gd name="T71" fmla="*/ 697606 h 4595"/>
              <a:gd name="T72" fmla="*/ 1149439 w 5325"/>
              <a:gd name="T73" fmla="*/ 697248 h 4595"/>
              <a:gd name="T74" fmla="*/ 1619518 w 5325"/>
              <a:gd name="T75" fmla="*/ 697248 h 4595"/>
              <a:gd name="T76" fmla="*/ 1626673 w 5325"/>
              <a:gd name="T77" fmla="*/ 697606 h 4595"/>
              <a:gd name="T78" fmla="*/ 1632755 w 5325"/>
              <a:gd name="T79" fmla="*/ 699752 h 4595"/>
              <a:gd name="T80" fmla="*/ 1638837 w 5325"/>
              <a:gd name="T81" fmla="*/ 702972 h 4595"/>
              <a:gd name="T82" fmla="*/ 1643845 w 5325"/>
              <a:gd name="T83" fmla="*/ 707265 h 4595"/>
              <a:gd name="T84" fmla="*/ 1648138 w 5325"/>
              <a:gd name="T85" fmla="*/ 712273 h 4595"/>
              <a:gd name="T86" fmla="*/ 1651000 w 5325"/>
              <a:gd name="T87" fmla="*/ 718355 h 4595"/>
              <a:gd name="T88" fmla="*/ 1653504 w 5325"/>
              <a:gd name="T89" fmla="*/ 724437 h 4595"/>
              <a:gd name="T90" fmla="*/ 1653862 w 5325"/>
              <a:gd name="T91" fmla="*/ 731592 h 4595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5325" h="4595">
                <a:moveTo>
                  <a:pt x="5325" y="2829"/>
                </a:moveTo>
                <a:lnTo>
                  <a:pt x="5073" y="2829"/>
                </a:lnTo>
                <a:lnTo>
                  <a:pt x="5073" y="0"/>
                </a:lnTo>
                <a:lnTo>
                  <a:pt x="253" y="0"/>
                </a:lnTo>
                <a:lnTo>
                  <a:pt x="253" y="2829"/>
                </a:lnTo>
                <a:lnTo>
                  <a:pt x="0" y="2829"/>
                </a:lnTo>
                <a:lnTo>
                  <a:pt x="0" y="3269"/>
                </a:lnTo>
                <a:lnTo>
                  <a:pt x="1284" y="3269"/>
                </a:lnTo>
                <a:lnTo>
                  <a:pt x="926" y="4595"/>
                </a:lnTo>
                <a:lnTo>
                  <a:pt x="1404" y="4595"/>
                </a:lnTo>
                <a:lnTo>
                  <a:pt x="1762" y="3269"/>
                </a:lnTo>
                <a:lnTo>
                  <a:pt x="3565" y="3269"/>
                </a:lnTo>
                <a:lnTo>
                  <a:pt x="3764" y="4009"/>
                </a:lnTo>
                <a:lnTo>
                  <a:pt x="3923" y="4595"/>
                </a:lnTo>
                <a:lnTo>
                  <a:pt x="4400" y="4595"/>
                </a:lnTo>
                <a:lnTo>
                  <a:pt x="4042" y="3269"/>
                </a:lnTo>
                <a:lnTo>
                  <a:pt x="5325" y="3269"/>
                </a:lnTo>
                <a:lnTo>
                  <a:pt x="5325" y="2829"/>
                </a:lnTo>
                <a:close/>
                <a:moveTo>
                  <a:pt x="4623" y="2732"/>
                </a:moveTo>
                <a:lnTo>
                  <a:pt x="4623" y="2732"/>
                </a:lnTo>
                <a:lnTo>
                  <a:pt x="4623" y="2742"/>
                </a:lnTo>
                <a:lnTo>
                  <a:pt x="4622" y="2752"/>
                </a:lnTo>
                <a:lnTo>
                  <a:pt x="4619" y="2760"/>
                </a:lnTo>
                <a:lnTo>
                  <a:pt x="4615" y="2770"/>
                </a:lnTo>
                <a:lnTo>
                  <a:pt x="4612" y="2779"/>
                </a:lnTo>
                <a:lnTo>
                  <a:pt x="4607" y="2786"/>
                </a:lnTo>
                <a:lnTo>
                  <a:pt x="4601" y="2794"/>
                </a:lnTo>
                <a:lnTo>
                  <a:pt x="4595" y="2801"/>
                </a:lnTo>
                <a:lnTo>
                  <a:pt x="4588" y="2807"/>
                </a:lnTo>
                <a:lnTo>
                  <a:pt x="4581" y="2812"/>
                </a:lnTo>
                <a:lnTo>
                  <a:pt x="4573" y="2817"/>
                </a:lnTo>
                <a:lnTo>
                  <a:pt x="4564" y="2822"/>
                </a:lnTo>
                <a:lnTo>
                  <a:pt x="4555" y="2824"/>
                </a:lnTo>
                <a:lnTo>
                  <a:pt x="4547" y="2827"/>
                </a:lnTo>
                <a:lnTo>
                  <a:pt x="4537" y="2828"/>
                </a:lnTo>
                <a:lnTo>
                  <a:pt x="4527" y="2829"/>
                </a:lnTo>
                <a:lnTo>
                  <a:pt x="3213" y="2829"/>
                </a:lnTo>
                <a:lnTo>
                  <a:pt x="3203" y="2828"/>
                </a:lnTo>
                <a:lnTo>
                  <a:pt x="3194" y="2827"/>
                </a:lnTo>
                <a:lnTo>
                  <a:pt x="3185" y="2824"/>
                </a:lnTo>
                <a:lnTo>
                  <a:pt x="3175" y="2822"/>
                </a:lnTo>
                <a:lnTo>
                  <a:pt x="3168" y="2817"/>
                </a:lnTo>
                <a:lnTo>
                  <a:pt x="3159" y="2812"/>
                </a:lnTo>
                <a:lnTo>
                  <a:pt x="3152" y="2807"/>
                </a:lnTo>
                <a:lnTo>
                  <a:pt x="3146" y="2801"/>
                </a:lnTo>
                <a:lnTo>
                  <a:pt x="3140" y="2794"/>
                </a:lnTo>
                <a:lnTo>
                  <a:pt x="3133" y="2786"/>
                </a:lnTo>
                <a:lnTo>
                  <a:pt x="3129" y="2779"/>
                </a:lnTo>
                <a:lnTo>
                  <a:pt x="3125" y="2770"/>
                </a:lnTo>
                <a:lnTo>
                  <a:pt x="3121" y="2760"/>
                </a:lnTo>
                <a:lnTo>
                  <a:pt x="3119" y="2752"/>
                </a:lnTo>
                <a:lnTo>
                  <a:pt x="3118" y="2742"/>
                </a:lnTo>
                <a:lnTo>
                  <a:pt x="3118" y="2732"/>
                </a:lnTo>
                <a:lnTo>
                  <a:pt x="3118" y="2045"/>
                </a:lnTo>
                <a:lnTo>
                  <a:pt x="3118" y="2035"/>
                </a:lnTo>
                <a:lnTo>
                  <a:pt x="3119" y="2025"/>
                </a:lnTo>
                <a:lnTo>
                  <a:pt x="3121" y="2016"/>
                </a:lnTo>
                <a:lnTo>
                  <a:pt x="3125" y="2008"/>
                </a:lnTo>
                <a:lnTo>
                  <a:pt x="3129" y="1999"/>
                </a:lnTo>
                <a:lnTo>
                  <a:pt x="3133" y="1991"/>
                </a:lnTo>
                <a:lnTo>
                  <a:pt x="3140" y="1983"/>
                </a:lnTo>
                <a:lnTo>
                  <a:pt x="3146" y="1977"/>
                </a:lnTo>
                <a:lnTo>
                  <a:pt x="3152" y="1971"/>
                </a:lnTo>
                <a:lnTo>
                  <a:pt x="3159" y="1965"/>
                </a:lnTo>
                <a:lnTo>
                  <a:pt x="3168" y="1960"/>
                </a:lnTo>
                <a:lnTo>
                  <a:pt x="3175" y="1956"/>
                </a:lnTo>
                <a:lnTo>
                  <a:pt x="3185" y="1953"/>
                </a:lnTo>
                <a:lnTo>
                  <a:pt x="3194" y="1950"/>
                </a:lnTo>
                <a:lnTo>
                  <a:pt x="3203" y="1949"/>
                </a:lnTo>
                <a:lnTo>
                  <a:pt x="3213" y="1949"/>
                </a:lnTo>
                <a:lnTo>
                  <a:pt x="4527" y="1949"/>
                </a:lnTo>
                <a:lnTo>
                  <a:pt x="4537" y="1949"/>
                </a:lnTo>
                <a:lnTo>
                  <a:pt x="4547" y="1950"/>
                </a:lnTo>
                <a:lnTo>
                  <a:pt x="4555" y="1953"/>
                </a:lnTo>
                <a:lnTo>
                  <a:pt x="4564" y="1956"/>
                </a:lnTo>
                <a:lnTo>
                  <a:pt x="4573" y="1960"/>
                </a:lnTo>
                <a:lnTo>
                  <a:pt x="4581" y="1965"/>
                </a:lnTo>
                <a:lnTo>
                  <a:pt x="4588" y="1971"/>
                </a:lnTo>
                <a:lnTo>
                  <a:pt x="4595" y="1977"/>
                </a:lnTo>
                <a:lnTo>
                  <a:pt x="4601" y="1983"/>
                </a:lnTo>
                <a:lnTo>
                  <a:pt x="4607" y="1991"/>
                </a:lnTo>
                <a:lnTo>
                  <a:pt x="4612" y="1999"/>
                </a:lnTo>
                <a:lnTo>
                  <a:pt x="4615" y="2008"/>
                </a:lnTo>
                <a:lnTo>
                  <a:pt x="4619" y="2016"/>
                </a:lnTo>
                <a:lnTo>
                  <a:pt x="4622" y="2025"/>
                </a:lnTo>
                <a:lnTo>
                  <a:pt x="4623" y="2035"/>
                </a:lnTo>
                <a:lnTo>
                  <a:pt x="4623" y="2045"/>
                </a:lnTo>
                <a:lnTo>
                  <a:pt x="4623" y="27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1pPr>
            <a:lvl2pPr marL="60833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2pPr>
            <a:lvl3pPr marL="121793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182753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4pPr>
            <a:lvl5pPr marL="243713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8pPr>
          </a:lstStyle>
          <a:p/>
        </p:txBody>
      </p:sp>
      <p:sp>
        <p:nvSpPr>
          <p:cNvPr id="44" name="矩形 43"/>
          <p:cNvSpPr/>
          <p:nvPr/>
        </p:nvSpPr>
        <p:spPr>
          <a:xfrm>
            <a:off x="1913663" y="3217588"/>
            <a:ext cx="3784444" cy="2553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800" b="0" i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为了提高辅导员的职业水平和工作能力，教育部和相关机构制定了《普通高等学校辅导员职业能力标准》，其中明确规定了辅导员的职业资格和认证要求</a:t>
            </a:r>
            <a:endParaRPr lang="zh-CN" altLang="en-US" sz="1800" b="0" i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5" name="Shape 439"/>
          <p:cNvSpPr/>
          <p:nvPr/>
        </p:nvSpPr>
        <p:spPr>
          <a:xfrm rot="7995305">
            <a:off x="6447124" y="2267252"/>
            <a:ext cx="2262439" cy="9708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9" y="0"/>
                </a:moveTo>
                <a:cubicBezTo>
                  <a:pt x="4265" y="0"/>
                  <a:pt x="2471" y="3346"/>
                  <a:pt x="1925" y="7895"/>
                </a:cubicBezTo>
                <a:cubicBezTo>
                  <a:pt x="1838" y="8621"/>
                  <a:pt x="1556" y="9122"/>
                  <a:pt x="1232" y="9122"/>
                </a:cubicBezTo>
                <a:lnTo>
                  <a:pt x="0" y="9122"/>
                </a:lnTo>
                <a:lnTo>
                  <a:pt x="0" y="12478"/>
                </a:lnTo>
                <a:lnTo>
                  <a:pt x="1232" y="12478"/>
                </a:lnTo>
                <a:cubicBezTo>
                  <a:pt x="1555" y="12478"/>
                  <a:pt x="1838" y="12980"/>
                  <a:pt x="1925" y="13705"/>
                </a:cubicBezTo>
                <a:cubicBezTo>
                  <a:pt x="2471" y="18253"/>
                  <a:pt x="4265" y="21599"/>
                  <a:pt x="6389" y="21600"/>
                </a:cubicBezTo>
                <a:cubicBezTo>
                  <a:pt x="8513" y="21600"/>
                  <a:pt x="10309" y="18255"/>
                  <a:pt x="10854" y="13705"/>
                </a:cubicBezTo>
                <a:cubicBezTo>
                  <a:pt x="10941" y="12981"/>
                  <a:pt x="11224" y="12478"/>
                  <a:pt x="11547" y="12478"/>
                </a:cubicBezTo>
                <a:cubicBezTo>
                  <a:pt x="11547" y="12478"/>
                  <a:pt x="21600" y="12478"/>
                  <a:pt x="21600" y="12478"/>
                </a:cubicBezTo>
                <a:lnTo>
                  <a:pt x="21600" y="9122"/>
                </a:lnTo>
                <a:lnTo>
                  <a:pt x="11549" y="9122"/>
                </a:lnTo>
                <a:cubicBezTo>
                  <a:pt x="11225" y="9122"/>
                  <a:pt x="10941" y="8622"/>
                  <a:pt x="10854" y="7895"/>
                </a:cubicBezTo>
                <a:cubicBezTo>
                  <a:pt x="10644" y="6124"/>
                  <a:pt x="10241" y="4500"/>
                  <a:pt x="9668" y="3165"/>
                </a:cubicBezTo>
                <a:cubicBezTo>
                  <a:pt x="8793" y="1124"/>
                  <a:pt x="7627" y="0"/>
                  <a:pt x="6389" y="0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511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3035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4559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60833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6" name="椭圆 45"/>
          <p:cNvSpPr/>
          <p:nvPr/>
        </p:nvSpPr>
        <p:spPr>
          <a:xfrm>
            <a:off x="6355451" y="3473117"/>
            <a:ext cx="562708" cy="562708"/>
          </a:xfrm>
          <a:prstGeom prst="ellipse">
            <a:avLst/>
          </a:prstGeom>
          <a:solidFill>
            <a:srgbClr val="0000FF"/>
          </a:solidFill>
          <a:ln w="28575">
            <a:solidFill>
              <a:srgbClr val="FFFF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9pPr>
          </a:lstStyle>
          <a:p>
            <a:pPr algn="ctr"/>
            <a:r>
              <a:rPr lang="zh-CN" altLang="zh-CN" b="0" i="0"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endParaRPr lang="zh-CN" altLang="en-US" b="0" i="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106973" y="3217589"/>
            <a:ext cx="3784444" cy="2553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 panose="02010509060101010101" pitchFamily="49" charset="-122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800" b="0" i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具体来说，辅导员需要具备以下职业资格和认证</a:t>
            </a:r>
            <a:endParaRPr lang="zh-CN" altLang="en-US" sz="1800" b="0" i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8" name="KSO_Shape"/>
          <p:cNvSpPr/>
          <p:nvPr/>
        </p:nvSpPr>
        <p:spPr>
          <a:xfrm>
            <a:off x="7620547" y="2184989"/>
            <a:ext cx="551274" cy="443776"/>
          </a:xfrm>
          <a:custGeom>
            <a:avLst/>
            <a:gdLst>
              <a:gd name="T0" fmla="*/ 913166 w 4940"/>
              <a:gd name="T1" fmla="*/ 216832 h 3973"/>
              <a:gd name="T2" fmla="*/ 832184 w 4940"/>
              <a:gd name="T3" fmla="*/ 139667 h 3973"/>
              <a:gd name="T4" fmla="*/ 750431 w 4940"/>
              <a:gd name="T5" fmla="*/ 81408 h 3973"/>
              <a:gd name="T6" fmla="*/ 668293 w 4940"/>
              <a:gd name="T7" fmla="*/ 40897 h 3973"/>
              <a:gd name="T8" fmla="*/ 586925 w 4940"/>
              <a:gd name="T9" fmla="*/ 14661 h 3973"/>
              <a:gd name="T10" fmla="*/ 506715 w 4940"/>
              <a:gd name="T11" fmla="*/ 2315 h 3973"/>
              <a:gd name="T12" fmla="*/ 429203 w 4940"/>
              <a:gd name="T13" fmla="*/ 772 h 3973"/>
              <a:gd name="T14" fmla="*/ 354777 w 4940"/>
              <a:gd name="T15" fmla="*/ 8102 h 3973"/>
              <a:gd name="T16" fmla="*/ 285364 w 4940"/>
              <a:gd name="T17" fmla="*/ 22763 h 3973"/>
              <a:gd name="T18" fmla="*/ 220965 w 4940"/>
              <a:gd name="T19" fmla="*/ 42826 h 3973"/>
              <a:gd name="T20" fmla="*/ 136898 w 4940"/>
              <a:gd name="T21" fmla="*/ 77164 h 3973"/>
              <a:gd name="T22" fmla="*/ 52060 w 4940"/>
              <a:gd name="T23" fmla="*/ 123077 h 3973"/>
              <a:gd name="T24" fmla="*/ 0 w 4940"/>
              <a:gd name="T25" fmla="*/ 158573 h 3973"/>
              <a:gd name="T26" fmla="*/ 23523 w 4940"/>
              <a:gd name="T27" fmla="*/ 1411336 h 3973"/>
              <a:gd name="T28" fmla="*/ 90237 w 4940"/>
              <a:gd name="T29" fmla="*/ 1371211 h 3973"/>
              <a:gd name="T30" fmla="*/ 191271 w 4940"/>
              <a:gd name="T31" fmla="*/ 1323755 h 3973"/>
              <a:gd name="T32" fmla="*/ 252200 w 4940"/>
              <a:gd name="T33" fmla="*/ 1302149 h 3973"/>
              <a:gd name="T34" fmla="*/ 319300 w 4940"/>
              <a:gd name="T35" fmla="*/ 1284787 h 3973"/>
              <a:gd name="T36" fmla="*/ 391798 w 4940"/>
              <a:gd name="T37" fmla="*/ 1273212 h 3973"/>
              <a:gd name="T38" fmla="*/ 467381 w 4940"/>
              <a:gd name="T39" fmla="*/ 1270511 h 3973"/>
              <a:gd name="T40" fmla="*/ 546434 w 4940"/>
              <a:gd name="T41" fmla="*/ 1277070 h 3973"/>
              <a:gd name="T42" fmla="*/ 627802 w 4940"/>
              <a:gd name="T43" fmla="*/ 1295975 h 3973"/>
              <a:gd name="T44" fmla="*/ 709555 w 4940"/>
              <a:gd name="T45" fmla="*/ 1329156 h 3973"/>
              <a:gd name="T46" fmla="*/ 791693 w 4940"/>
              <a:gd name="T47" fmla="*/ 1378155 h 3973"/>
              <a:gd name="T48" fmla="*/ 873061 w 4940"/>
              <a:gd name="T49" fmla="*/ 1445288 h 3973"/>
              <a:gd name="T50" fmla="*/ 952500 w 4940"/>
              <a:gd name="T51" fmla="*/ 1532870 h 3973"/>
              <a:gd name="T52" fmla="*/ 1011887 w 4940"/>
              <a:gd name="T53" fmla="*/ 1465351 h 3973"/>
              <a:gd name="T54" fmla="*/ 1092868 w 4940"/>
              <a:gd name="T55" fmla="*/ 1393588 h 3973"/>
              <a:gd name="T56" fmla="*/ 1175007 w 4940"/>
              <a:gd name="T57" fmla="*/ 1339959 h 3973"/>
              <a:gd name="T58" fmla="*/ 1256760 w 4940"/>
              <a:gd name="T59" fmla="*/ 1302920 h 3973"/>
              <a:gd name="T60" fmla="*/ 1338128 w 4940"/>
              <a:gd name="T61" fmla="*/ 1280928 h 3973"/>
              <a:gd name="T62" fmla="*/ 1417952 w 4940"/>
              <a:gd name="T63" fmla="*/ 1270897 h 3973"/>
              <a:gd name="T64" fmla="*/ 1494692 w 4940"/>
              <a:gd name="T65" fmla="*/ 1271669 h 3973"/>
              <a:gd name="T66" fmla="*/ 1567962 w 4940"/>
              <a:gd name="T67" fmla="*/ 1281314 h 3973"/>
              <a:gd name="T68" fmla="*/ 1635832 w 4940"/>
              <a:gd name="T69" fmla="*/ 1297519 h 3973"/>
              <a:gd name="T70" fmla="*/ 1698689 w 4940"/>
              <a:gd name="T71" fmla="*/ 1318353 h 3973"/>
              <a:gd name="T72" fmla="*/ 1792397 w 4940"/>
              <a:gd name="T73" fmla="*/ 1359250 h 3973"/>
              <a:gd name="T74" fmla="*/ 1868365 w 4940"/>
              <a:gd name="T75" fmla="*/ 1402848 h 3973"/>
              <a:gd name="T76" fmla="*/ 1905000 w 4940"/>
              <a:gd name="T77" fmla="*/ 158573 h 3973"/>
              <a:gd name="T78" fmla="*/ 1868365 w 4940"/>
              <a:gd name="T79" fmla="*/ 133109 h 3973"/>
              <a:gd name="T80" fmla="*/ 1792397 w 4940"/>
              <a:gd name="T81" fmla="*/ 89511 h 3973"/>
              <a:gd name="T82" fmla="*/ 1698689 w 4940"/>
              <a:gd name="T83" fmla="*/ 47842 h 3973"/>
              <a:gd name="T84" fmla="*/ 1635832 w 4940"/>
              <a:gd name="T85" fmla="*/ 27393 h 3973"/>
              <a:gd name="T86" fmla="*/ 1567962 w 4940"/>
              <a:gd name="T87" fmla="*/ 11575 h 3973"/>
              <a:gd name="T88" fmla="*/ 1494692 w 4940"/>
              <a:gd name="T89" fmla="*/ 1929 h 3973"/>
              <a:gd name="T90" fmla="*/ 1417952 w 4940"/>
              <a:gd name="T91" fmla="*/ 1157 h 3973"/>
              <a:gd name="T92" fmla="*/ 1338128 w 4940"/>
              <a:gd name="T93" fmla="*/ 10417 h 3973"/>
              <a:gd name="T94" fmla="*/ 1256760 w 4940"/>
              <a:gd name="T95" fmla="*/ 33181 h 3973"/>
              <a:gd name="T96" fmla="*/ 1175007 w 4940"/>
              <a:gd name="T97" fmla="*/ 70220 h 3973"/>
              <a:gd name="T98" fmla="*/ 1092868 w 4940"/>
              <a:gd name="T99" fmla="*/ 123463 h 3973"/>
              <a:gd name="T100" fmla="*/ 1011887 w 4940"/>
              <a:gd name="T101" fmla="*/ 195612 h 3973"/>
              <a:gd name="T102" fmla="*/ 952500 w 4940"/>
              <a:gd name="T103" fmla="*/ 262745 h 397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940" h="3973">
                <a:moveTo>
                  <a:pt x="2470" y="681"/>
                </a:moveTo>
                <a:lnTo>
                  <a:pt x="2470" y="681"/>
                </a:lnTo>
                <a:lnTo>
                  <a:pt x="2419" y="619"/>
                </a:lnTo>
                <a:lnTo>
                  <a:pt x="2368" y="562"/>
                </a:lnTo>
                <a:lnTo>
                  <a:pt x="2315" y="507"/>
                </a:lnTo>
                <a:lnTo>
                  <a:pt x="2264" y="455"/>
                </a:lnTo>
                <a:lnTo>
                  <a:pt x="2211" y="407"/>
                </a:lnTo>
                <a:lnTo>
                  <a:pt x="2158" y="362"/>
                </a:lnTo>
                <a:lnTo>
                  <a:pt x="2106" y="320"/>
                </a:lnTo>
                <a:lnTo>
                  <a:pt x="2053" y="281"/>
                </a:lnTo>
                <a:lnTo>
                  <a:pt x="2000" y="244"/>
                </a:lnTo>
                <a:lnTo>
                  <a:pt x="1946" y="211"/>
                </a:lnTo>
                <a:lnTo>
                  <a:pt x="1894" y="182"/>
                </a:lnTo>
                <a:lnTo>
                  <a:pt x="1840" y="154"/>
                </a:lnTo>
                <a:lnTo>
                  <a:pt x="1787" y="128"/>
                </a:lnTo>
                <a:lnTo>
                  <a:pt x="1733" y="106"/>
                </a:lnTo>
                <a:lnTo>
                  <a:pt x="1680" y="86"/>
                </a:lnTo>
                <a:lnTo>
                  <a:pt x="1628" y="68"/>
                </a:lnTo>
                <a:lnTo>
                  <a:pt x="1575" y="52"/>
                </a:lnTo>
                <a:lnTo>
                  <a:pt x="1522" y="38"/>
                </a:lnTo>
                <a:lnTo>
                  <a:pt x="1469" y="27"/>
                </a:lnTo>
                <a:lnTo>
                  <a:pt x="1417" y="19"/>
                </a:lnTo>
                <a:lnTo>
                  <a:pt x="1365" y="11"/>
                </a:lnTo>
                <a:lnTo>
                  <a:pt x="1314" y="6"/>
                </a:lnTo>
                <a:lnTo>
                  <a:pt x="1264" y="3"/>
                </a:lnTo>
                <a:lnTo>
                  <a:pt x="1212" y="0"/>
                </a:lnTo>
                <a:lnTo>
                  <a:pt x="1163" y="0"/>
                </a:lnTo>
                <a:lnTo>
                  <a:pt x="1113" y="2"/>
                </a:lnTo>
                <a:lnTo>
                  <a:pt x="1064" y="5"/>
                </a:lnTo>
                <a:lnTo>
                  <a:pt x="1016" y="9"/>
                </a:lnTo>
                <a:lnTo>
                  <a:pt x="968" y="15"/>
                </a:lnTo>
                <a:lnTo>
                  <a:pt x="920" y="21"/>
                </a:lnTo>
                <a:lnTo>
                  <a:pt x="875" y="30"/>
                </a:lnTo>
                <a:lnTo>
                  <a:pt x="828" y="38"/>
                </a:lnTo>
                <a:lnTo>
                  <a:pt x="784" y="48"/>
                </a:lnTo>
                <a:lnTo>
                  <a:pt x="740" y="59"/>
                </a:lnTo>
                <a:lnTo>
                  <a:pt x="697" y="71"/>
                </a:lnTo>
                <a:lnTo>
                  <a:pt x="654" y="84"/>
                </a:lnTo>
                <a:lnTo>
                  <a:pt x="614" y="96"/>
                </a:lnTo>
                <a:lnTo>
                  <a:pt x="573" y="111"/>
                </a:lnTo>
                <a:lnTo>
                  <a:pt x="534" y="124"/>
                </a:lnTo>
                <a:lnTo>
                  <a:pt x="496" y="139"/>
                </a:lnTo>
                <a:lnTo>
                  <a:pt x="423" y="169"/>
                </a:lnTo>
                <a:lnTo>
                  <a:pt x="355" y="200"/>
                </a:lnTo>
                <a:lnTo>
                  <a:pt x="292" y="232"/>
                </a:lnTo>
                <a:lnTo>
                  <a:pt x="234" y="263"/>
                </a:lnTo>
                <a:lnTo>
                  <a:pt x="181" y="292"/>
                </a:lnTo>
                <a:lnTo>
                  <a:pt x="135" y="319"/>
                </a:lnTo>
                <a:lnTo>
                  <a:pt x="95" y="345"/>
                </a:lnTo>
                <a:lnTo>
                  <a:pt x="61" y="367"/>
                </a:lnTo>
                <a:lnTo>
                  <a:pt x="16" y="399"/>
                </a:lnTo>
                <a:lnTo>
                  <a:pt x="0" y="411"/>
                </a:lnTo>
                <a:lnTo>
                  <a:pt x="0" y="3702"/>
                </a:lnTo>
                <a:lnTo>
                  <a:pt x="16" y="3690"/>
                </a:lnTo>
                <a:lnTo>
                  <a:pt x="61" y="3658"/>
                </a:lnTo>
                <a:lnTo>
                  <a:pt x="95" y="3636"/>
                </a:lnTo>
                <a:lnTo>
                  <a:pt x="135" y="3612"/>
                </a:lnTo>
                <a:lnTo>
                  <a:pt x="181" y="3583"/>
                </a:lnTo>
                <a:lnTo>
                  <a:pt x="234" y="3554"/>
                </a:lnTo>
                <a:lnTo>
                  <a:pt x="292" y="3523"/>
                </a:lnTo>
                <a:lnTo>
                  <a:pt x="355" y="3493"/>
                </a:lnTo>
                <a:lnTo>
                  <a:pt x="423" y="3461"/>
                </a:lnTo>
                <a:lnTo>
                  <a:pt x="496" y="3431"/>
                </a:lnTo>
                <a:lnTo>
                  <a:pt x="534" y="3417"/>
                </a:lnTo>
                <a:lnTo>
                  <a:pt x="573" y="3402"/>
                </a:lnTo>
                <a:lnTo>
                  <a:pt x="614" y="3388"/>
                </a:lnTo>
                <a:lnTo>
                  <a:pt x="654" y="3375"/>
                </a:lnTo>
                <a:lnTo>
                  <a:pt x="697" y="3363"/>
                </a:lnTo>
                <a:lnTo>
                  <a:pt x="740" y="3350"/>
                </a:lnTo>
                <a:lnTo>
                  <a:pt x="784" y="3339"/>
                </a:lnTo>
                <a:lnTo>
                  <a:pt x="828" y="3330"/>
                </a:lnTo>
                <a:lnTo>
                  <a:pt x="875" y="3321"/>
                </a:lnTo>
                <a:lnTo>
                  <a:pt x="920" y="3312"/>
                </a:lnTo>
                <a:lnTo>
                  <a:pt x="968" y="3306"/>
                </a:lnTo>
                <a:lnTo>
                  <a:pt x="1016" y="3300"/>
                </a:lnTo>
                <a:lnTo>
                  <a:pt x="1064" y="3296"/>
                </a:lnTo>
                <a:lnTo>
                  <a:pt x="1113" y="3294"/>
                </a:lnTo>
                <a:lnTo>
                  <a:pt x="1163" y="3292"/>
                </a:lnTo>
                <a:lnTo>
                  <a:pt x="1212" y="3293"/>
                </a:lnTo>
                <a:lnTo>
                  <a:pt x="1264" y="3294"/>
                </a:lnTo>
                <a:lnTo>
                  <a:pt x="1314" y="3298"/>
                </a:lnTo>
                <a:lnTo>
                  <a:pt x="1365" y="3303"/>
                </a:lnTo>
                <a:lnTo>
                  <a:pt x="1417" y="3310"/>
                </a:lnTo>
                <a:lnTo>
                  <a:pt x="1469" y="3320"/>
                </a:lnTo>
                <a:lnTo>
                  <a:pt x="1522" y="3331"/>
                </a:lnTo>
                <a:lnTo>
                  <a:pt x="1575" y="3344"/>
                </a:lnTo>
                <a:lnTo>
                  <a:pt x="1628" y="3359"/>
                </a:lnTo>
                <a:lnTo>
                  <a:pt x="1680" y="3377"/>
                </a:lnTo>
                <a:lnTo>
                  <a:pt x="1733" y="3397"/>
                </a:lnTo>
                <a:lnTo>
                  <a:pt x="1787" y="3420"/>
                </a:lnTo>
                <a:lnTo>
                  <a:pt x="1840" y="3445"/>
                </a:lnTo>
                <a:lnTo>
                  <a:pt x="1894" y="3473"/>
                </a:lnTo>
                <a:lnTo>
                  <a:pt x="1946" y="3504"/>
                </a:lnTo>
                <a:lnTo>
                  <a:pt x="2000" y="3537"/>
                </a:lnTo>
                <a:lnTo>
                  <a:pt x="2053" y="3572"/>
                </a:lnTo>
                <a:lnTo>
                  <a:pt x="2106" y="3612"/>
                </a:lnTo>
                <a:lnTo>
                  <a:pt x="2158" y="3653"/>
                </a:lnTo>
                <a:lnTo>
                  <a:pt x="2211" y="3699"/>
                </a:lnTo>
                <a:lnTo>
                  <a:pt x="2264" y="3746"/>
                </a:lnTo>
                <a:lnTo>
                  <a:pt x="2315" y="3798"/>
                </a:lnTo>
                <a:lnTo>
                  <a:pt x="2368" y="3853"/>
                </a:lnTo>
                <a:lnTo>
                  <a:pt x="2419" y="3911"/>
                </a:lnTo>
                <a:lnTo>
                  <a:pt x="2470" y="3973"/>
                </a:lnTo>
                <a:lnTo>
                  <a:pt x="2521" y="3911"/>
                </a:lnTo>
                <a:lnTo>
                  <a:pt x="2573" y="3853"/>
                </a:lnTo>
                <a:lnTo>
                  <a:pt x="2624" y="3798"/>
                </a:lnTo>
                <a:lnTo>
                  <a:pt x="2676" y="3746"/>
                </a:lnTo>
                <a:lnTo>
                  <a:pt x="2728" y="3699"/>
                </a:lnTo>
                <a:lnTo>
                  <a:pt x="2781" y="3653"/>
                </a:lnTo>
                <a:lnTo>
                  <a:pt x="2834" y="3612"/>
                </a:lnTo>
                <a:lnTo>
                  <a:pt x="2886" y="3572"/>
                </a:lnTo>
                <a:lnTo>
                  <a:pt x="2940" y="3537"/>
                </a:lnTo>
                <a:lnTo>
                  <a:pt x="2993" y="3504"/>
                </a:lnTo>
                <a:lnTo>
                  <a:pt x="3047" y="3473"/>
                </a:lnTo>
                <a:lnTo>
                  <a:pt x="3100" y="3445"/>
                </a:lnTo>
                <a:lnTo>
                  <a:pt x="3154" y="3420"/>
                </a:lnTo>
                <a:lnTo>
                  <a:pt x="3206" y="3397"/>
                </a:lnTo>
                <a:lnTo>
                  <a:pt x="3259" y="3377"/>
                </a:lnTo>
                <a:lnTo>
                  <a:pt x="3313" y="3359"/>
                </a:lnTo>
                <a:lnTo>
                  <a:pt x="3366" y="3344"/>
                </a:lnTo>
                <a:lnTo>
                  <a:pt x="3418" y="3331"/>
                </a:lnTo>
                <a:lnTo>
                  <a:pt x="3470" y="3320"/>
                </a:lnTo>
                <a:lnTo>
                  <a:pt x="3523" y="3310"/>
                </a:lnTo>
                <a:lnTo>
                  <a:pt x="3574" y="3303"/>
                </a:lnTo>
                <a:lnTo>
                  <a:pt x="3626" y="3298"/>
                </a:lnTo>
                <a:lnTo>
                  <a:pt x="3677" y="3294"/>
                </a:lnTo>
                <a:lnTo>
                  <a:pt x="3727" y="3293"/>
                </a:lnTo>
                <a:lnTo>
                  <a:pt x="3778" y="3292"/>
                </a:lnTo>
                <a:lnTo>
                  <a:pt x="3827" y="3294"/>
                </a:lnTo>
                <a:lnTo>
                  <a:pt x="3876" y="3296"/>
                </a:lnTo>
                <a:lnTo>
                  <a:pt x="3925" y="3300"/>
                </a:lnTo>
                <a:lnTo>
                  <a:pt x="3973" y="3306"/>
                </a:lnTo>
                <a:lnTo>
                  <a:pt x="4019" y="3312"/>
                </a:lnTo>
                <a:lnTo>
                  <a:pt x="4066" y="3321"/>
                </a:lnTo>
                <a:lnTo>
                  <a:pt x="4111" y="3330"/>
                </a:lnTo>
                <a:lnTo>
                  <a:pt x="4155" y="3339"/>
                </a:lnTo>
                <a:lnTo>
                  <a:pt x="4199" y="3350"/>
                </a:lnTo>
                <a:lnTo>
                  <a:pt x="4242" y="3363"/>
                </a:lnTo>
                <a:lnTo>
                  <a:pt x="4285" y="3375"/>
                </a:lnTo>
                <a:lnTo>
                  <a:pt x="4327" y="3388"/>
                </a:lnTo>
                <a:lnTo>
                  <a:pt x="4366" y="3402"/>
                </a:lnTo>
                <a:lnTo>
                  <a:pt x="4405" y="3417"/>
                </a:lnTo>
                <a:lnTo>
                  <a:pt x="4444" y="3431"/>
                </a:lnTo>
                <a:lnTo>
                  <a:pt x="4517" y="3461"/>
                </a:lnTo>
                <a:lnTo>
                  <a:pt x="4585" y="3493"/>
                </a:lnTo>
                <a:lnTo>
                  <a:pt x="4648" y="3523"/>
                </a:lnTo>
                <a:lnTo>
                  <a:pt x="4707" y="3554"/>
                </a:lnTo>
                <a:lnTo>
                  <a:pt x="4758" y="3583"/>
                </a:lnTo>
                <a:lnTo>
                  <a:pt x="4805" y="3612"/>
                </a:lnTo>
                <a:lnTo>
                  <a:pt x="4845" y="3636"/>
                </a:lnTo>
                <a:lnTo>
                  <a:pt x="4878" y="3658"/>
                </a:lnTo>
                <a:lnTo>
                  <a:pt x="4924" y="3690"/>
                </a:lnTo>
                <a:lnTo>
                  <a:pt x="4940" y="3702"/>
                </a:lnTo>
                <a:lnTo>
                  <a:pt x="4940" y="411"/>
                </a:lnTo>
                <a:lnTo>
                  <a:pt x="4924" y="399"/>
                </a:lnTo>
                <a:lnTo>
                  <a:pt x="4878" y="367"/>
                </a:lnTo>
                <a:lnTo>
                  <a:pt x="4845" y="345"/>
                </a:lnTo>
                <a:lnTo>
                  <a:pt x="4805" y="319"/>
                </a:lnTo>
                <a:lnTo>
                  <a:pt x="4758" y="292"/>
                </a:lnTo>
                <a:lnTo>
                  <a:pt x="4707" y="263"/>
                </a:lnTo>
                <a:lnTo>
                  <a:pt x="4648" y="232"/>
                </a:lnTo>
                <a:lnTo>
                  <a:pt x="4585" y="200"/>
                </a:lnTo>
                <a:lnTo>
                  <a:pt x="4517" y="169"/>
                </a:lnTo>
                <a:lnTo>
                  <a:pt x="4444" y="139"/>
                </a:lnTo>
                <a:lnTo>
                  <a:pt x="4405" y="124"/>
                </a:lnTo>
                <a:lnTo>
                  <a:pt x="4366" y="111"/>
                </a:lnTo>
                <a:lnTo>
                  <a:pt x="4327" y="96"/>
                </a:lnTo>
                <a:lnTo>
                  <a:pt x="4285" y="84"/>
                </a:lnTo>
                <a:lnTo>
                  <a:pt x="4242" y="71"/>
                </a:lnTo>
                <a:lnTo>
                  <a:pt x="4199" y="59"/>
                </a:lnTo>
                <a:lnTo>
                  <a:pt x="4155" y="48"/>
                </a:lnTo>
                <a:lnTo>
                  <a:pt x="4111" y="38"/>
                </a:lnTo>
                <a:lnTo>
                  <a:pt x="4066" y="30"/>
                </a:lnTo>
                <a:lnTo>
                  <a:pt x="4019" y="21"/>
                </a:lnTo>
                <a:lnTo>
                  <a:pt x="3973" y="15"/>
                </a:lnTo>
                <a:lnTo>
                  <a:pt x="3925" y="9"/>
                </a:lnTo>
                <a:lnTo>
                  <a:pt x="3876" y="5"/>
                </a:lnTo>
                <a:lnTo>
                  <a:pt x="3827" y="2"/>
                </a:lnTo>
                <a:lnTo>
                  <a:pt x="3778" y="0"/>
                </a:lnTo>
                <a:lnTo>
                  <a:pt x="3727" y="0"/>
                </a:lnTo>
                <a:lnTo>
                  <a:pt x="3677" y="3"/>
                </a:lnTo>
                <a:lnTo>
                  <a:pt x="3626" y="6"/>
                </a:lnTo>
                <a:lnTo>
                  <a:pt x="3574" y="11"/>
                </a:lnTo>
                <a:lnTo>
                  <a:pt x="3523" y="19"/>
                </a:lnTo>
                <a:lnTo>
                  <a:pt x="3470" y="27"/>
                </a:lnTo>
                <a:lnTo>
                  <a:pt x="3418" y="38"/>
                </a:lnTo>
                <a:lnTo>
                  <a:pt x="3366" y="52"/>
                </a:lnTo>
                <a:lnTo>
                  <a:pt x="3313" y="68"/>
                </a:lnTo>
                <a:lnTo>
                  <a:pt x="3259" y="86"/>
                </a:lnTo>
                <a:lnTo>
                  <a:pt x="3206" y="106"/>
                </a:lnTo>
                <a:lnTo>
                  <a:pt x="3154" y="128"/>
                </a:lnTo>
                <a:lnTo>
                  <a:pt x="3100" y="154"/>
                </a:lnTo>
                <a:lnTo>
                  <a:pt x="3047" y="182"/>
                </a:lnTo>
                <a:lnTo>
                  <a:pt x="2993" y="211"/>
                </a:lnTo>
                <a:lnTo>
                  <a:pt x="2940" y="244"/>
                </a:lnTo>
                <a:lnTo>
                  <a:pt x="2886" y="281"/>
                </a:lnTo>
                <a:lnTo>
                  <a:pt x="2834" y="320"/>
                </a:lnTo>
                <a:lnTo>
                  <a:pt x="2781" y="362"/>
                </a:lnTo>
                <a:lnTo>
                  <a:pt x="2728" y="407"/>
                </a:lnTo>
                <a:lnTo>
                  <a:pt x="2676" y="455"/>
                </a:lnTo>
                <a:lnTo>
                  <a:pt x="2624" y="507"/>
                </a:lnTo>
                <a:lnTo>
                  <a:pt x="2573" y="562"/>
                </a:lnTo>
                <a:lnTo>
                  <a:pt x="2521" y="619"/>
                </a:lnTo>
                <a:lnTo>
                  <a:pt x="2470" y="6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/>
        </p:txBody>
      </p:sp>
      <p:sp>
        <p:nvSpPr>
          <p:cNvPr id="14345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33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3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3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39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职业资格与认证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4" name="椭圆 303"/>
          <p:cNvSpPr/>
          <p:nvPr/>
        </p:nvSpPr>
        <p:spPr>
          <a:xfrm>
            <a:off x="1285847" y="2297854"/>
            <a:ext cx="2308860" cy="2303780"/>
          </a:xfrm>
          <a:prstGeom prst="ellipse">
            <a:avLst/>
          </a:prstGeom>
          <a:solidFill>
            <a:srgbClr val="0000FF"/>
          </a:solidFill>
          <a:ln w="19050">
            <a:gradFill flip="none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889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5" name="椭圆 304"/>
          <p:cNvSpPr/>
          <p:nvPr/>
        </p:nvSpPr>
        <p:spPr>
          <a:xfrm>
            <a:off x="1450101" y="2459568"/>
            <a:ext cx="1980353" cy="1980353"/>
          </a:xfrm>
          <a:prstGeom prst="ellipse">
            <a:avLst/>
          </a:prstGeom>
          <a:solidFill>
            <a:srgbClr val="0000F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6" name="椭圆 305"/>
          <p:cNvSpPr/>
          <p:nvPr/>
        </p:nvSpPr>
        <p:spPr>
          <a:xfrm>
            <a:off x="1650761" y="2660228"/>
            <a:ext cx="1579033" cy="1579033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innerShdw blurRad="177800" dist="177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07" name="Freeform 5"/>
          <p:cNvSpPr>
            <a:spLocks noChangeAspect="1" noEditPoints="1"/>
          </p:cNvSpPr>
          <p:nvPr/>
        </p:nvSpPr>
        <p:spPr>
          <a:xfrm>
            <a:off x="2069861" y="3143674"/>
            <a:ext cx="740833" cy="612140"/>
          </a:xfrm>
          <a:custGeom>
            <a:avLst/>
            <a:gdLst>
              <a:gd name="T0" fmla="*/ 38 w 126"/>
              <a:gd name="T1" fmla="*/ 13 h 104"/>
              <a:gd name="T2" fmla="*/ 24 w 126"/>
              <a:gd name="T3" fmla="*/ 27 h 104"/>
              <a:gd name="T4" fmla="*/ 8 w 126"/>
              <a:gd name="T5" fmla="*/ 31 h 104"/>
              <a:gd name="T6" fmla="*/ 8 w 126"/>
              <a:gd name="T7" fmla="*/ 51 h 104"/>
              <a:gd name="T8" fmla="*/ 0 w 126"/>
              <a:gd name="T9" fmla="*/ 65 h 104"/>
              <a:gd name="T10" fmla="*/ 14 w 126"/>
              <a:gd name="T11" fmla="*/ 79 h 104"/>
              <a:gd name="T12" fmla="*/ 18 w 126"/>
              <a:gd name="T13" fmla="*/ 96 h 104"/>
              <a:gd name="T14" fmla="*/ 38 w 126"/>
              <a:gd name="T15" fmla="*/ 95 h 104"/>
              <a:gd name="T16" fmla="*/ 53 w 126"/>
              <a:gd name="T17" fmla="*/ 104 h 104"/>
              <a:gd name="T18" fmla="*/ 67 w 126"/>
              <a:gd name="T19" fmla="*/ 90 h 104"/>
              <a:gd name="T20" fmla="*/ 83 w 126"/>
              <a:gd name="T21" fmla="*/ 85 h 104"/>
              <a:gd name="T22" fmla="*/ 83 w 126"/>
              <a:gd name="T23" fmla="*/ 65 h 104"/>
              <a:gd name="T24" fmla="*/ 91 w 126"/>
              <a:gd name="T25" fmla="*/ 51 h 104"/>
              <a:gd name="T26" fmla="*/ 77 w 126"/>
              <a:gd name="T27" fmla="*/ 37 h 104"/>
              <a:gd name="T28" fmla="*/ 73 w 126"/>
              <a:gd name="T29" fmla="*/ 21 h 104"/>
              <a:gd name="T30" fmla="*/ 53 w 126"/>
              <a:gd name="T31" fmla="*/ 21 h 104"/>
              <a:gd name="T32" fmla="*/ 46 w 126"/>
              <a:gd name="T33" fmla="*/ 87 h 104"/>
              <a:gd name="T34" fmla="*/ 46 w 126"/>
              <a:gd name="T35" fmla="*/ 29 h 104"/>
              <a:gd name="T36" fmla="*/ 46 w 126"/>
              <a:gd name="T37" fmla="*/ 87 h 104"/>
              <a:gd name="T38" fmla="*/ 93 w 126"/>
              <a:gd name="T39" fmla="*/ 21 h 104"/>
              <a:gd name="T40" fmla="*/ 116 w 126"/>
              <a:gd name="T41" fmla="*/ 21 h 104"/>
              <a:gd name="T42" fmla="*/ 108 w 126"/>
              <a:gd name="T43" fmla="*/ 0 h 104"/>
              <a:gd name="T44" fmla="*/ 101 w 126"/>
              <a:gd name="T45" fmla="*/ 4 h 104"/>
              <a:gd name="T46" fmla="*/ 91 w 126"/>
              <a:gd name="T47" fmla="*/ 4 h 104"/>
              <a:gd name="T48" fmla="*/ 89 w 126"/>
              <a:gd name="T49" fmla="*/ 11 h 104"/>
              <a:gd name="T50" fmla="*/ 82 w 126"/>
              <a:gd name="T51" fmla="*/ 18 h 104"/>
              <a:gd name="T52" fmla="*/ 87 w 126"/>
              <a:gd name="T53" fmla="*/ 25 h 104"/>
              <a:gd name="T54" fmla="*/ 86 w 126"/>
              <a:gd name="T55" fmla="*/ 35 h 104"/>
              <a:gd name="T56" fmla="*/ 94 w 126"/>
              <a:gd name="T57" fmla="*/ 37 h 104"/>
              <a:gd name="T58" fmla="*/ 101 w 126"/>
              <a:gd name="T59" fmla="*/ 43 h 104"/>
              <a:gd name="T60" fmla="*/ 108 w 126"/>
              <a:gd name="T61" fmla="*/ 39 h 104"/>
              <a:gd name="T62" fmla="*/ 118 w 126"/>
              <a:gd name="T63" fmla="*/ 39 h 104"/>
              <a:gd name="T64" fmla="*/ 120 w 126"/>
              <a:gd name="T65" fmla="*/ 32 h 104"/>
              <a:gd name="T66" fmla="*/ 126 w 126"/>
              <a:gd name="T67" fmla="*/ 25 h 104"/>
              <a:gd name="T68" fmla="*/ 122 w 126"/>
              <a:gd name="T69" fmla="*/ 18 h 104"/>
              <a:gd name="T70" fmla="*/ 122 w 126"/>
              <a:gd name="T71" fmla="*/ 8 h 104"/>
              <a:gd name="T72" fmla="*/ 115 w 126"/>
              <a:gd name="T73" fmla="*/ 6 h 104"/>
              <a:gd name="T74" fmla="*/ 108 w 126"/>
              <a:gd name="T75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6" h="104">
                <a:moveTo>
                  <a:pt x="53" y="13"/>
                </a:moveTo>
                <a:cubicBezTo>
                  <a:pt x="38" y="13"/>
                  <a:pt x="38" y="13"/>
                  <a:pt x="38" y="13"/>
                </a:cubicBezTo>
                <a:cubicBezTo>
                  <a:pt x="38" y="21"/>
                  <a:pt x="38" y="21"/>
                  <a:pt x="38" y="21"/>
                </a:cubicBezTo>
                <a:cubicBezTo>
                  <a:pt x="33" y="22"/>
                  <a:pt x="28" y="24"/>
                  <a:pt x="24" y="27"/>
                </a:cubicBezTo>
                <a:cubicBezTo>
                  <a:pt x="18" y="21"/>
                  <a:pt x="18" y="21"/>
                  <a:pt x="18" y="21"/>
                </a:cubicBezTo>
                <a:cubicBezTo>
                  <a:pt x="8" y="31"/>
                  <a:pt x="8" y="31"/>
                  <a:pt x="8" y="31"/>
                </a:cubicBezTo>
                <a:cubicBezTo>
                  <a:pt x="14" y="37"/>
                  <a:pt x="14" y="37"/>
                  <a:pt x="14" y="37"/>
                </a:cubicBezTo>
                <a:cubicBezTo>
                  <a:pt x="11" y="41"/>
                  <a:pt x="9" y="46"/>
                  <a:pt x="8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65"/>
                  <a:pt x="0" y="65"/>
                  <a:pt x="0" y="65"/>
                </a:cubicBezTo>
                <a:cubicBezTo>
                  <a:pt x="8" y="65"/>
                  <a:pt x="8" y="65"/>
                  <a:pt x="8" y="65"/>
                </a:cubicBezTo>
                <a:cubicBezTo>
                  <a:pt x="9" y="70"/>
                  <a:pt x="11" y="75"/>
                  <a:pt x="14" y="79"/>
                </a:cubicBezTo>
                <a:cubicBezTo>
                  <a:pt x="8" y="85"/>
                  <a:pt x="8" y="85"/>
                  <a:pt x="8" y="85"/>
                </a:cubicBezTo>
                <a:cubicBezTo>
                  <a:pt x="18" y="96"/>
                  <a:pt x="18" y="96"/>
                  <a:pt x="18" y="96"/>
                </a:cubicBezTo>
                <a:cubicBezTo>
                  <a:pt x="24" y="90"/>
                  <a:pt x="24" y="90"/>
                  <a:pt x="24" y="90"/>
                </a:cubicBezTo>
                <a:cubicBezTo>
                  <a:pt x="28" y="92"/>
                  <a:pt x="33" y="94"/>
                  <a:pt x="38" y="95"/>
                </a:cubicBezTo>
                <a:cubicBezTo>
                  <a:pt x="38" y="104"/>
                  <a:pt x="38" y="104"/>
                  <a:pt x="38" y="104"/>
                </a:cubicBezTo>
                <a:cubicBezTo>
                  <a:pt x="53" y="104"/>
                  <a:pt x="53" y="104"/>
                  <a:pt x="53" y="104"/>
                </a:cubicBezTo>
                <a:cubicBezTo>
                  <a:pt x="53" y="95"/>
                  <a:pt x="53" y="95"/>
                  <a:pt x="53" y="95"/>
                </a:cubicBezTo>
                <a:cubicBezTo>
                  <a:pt x="58" y="94"/>
                  <a:pt x="63" y="92"/>
                  <a:pt x="67" y="90"/>
                </a:cubicBezTo>
                <a:cubicBezTo>
                  <a:pt x="73" y="96"/>
                  <a:pt x="73" y="96"/>
                  <a:pt x="73" y="96"/>
                </a:cubicBezTo>
                <a:cubicBezTo>
                  <a:pt x="83" y="85"/>
                  <a:pt x="83" y="85"/>
                  <a:pt x="83" y="85"/>
                </a:cubicBezTo>
                <a:cubicBezTo>
                  <a:pt x="77" y="79"/>
                  <a:pt x="77" y="79"/>
                  <a:pt x="77" y="79"/>
                </a:cubicBezTo>
                <a:cubicBezTo>
                  <a:pt x="80" y="75"/>
                  <a:pt x="82" y="70"/>
                  <a:pt x="83" y="65"/>
                </a:cubicBezTo>
                <a:cubicBezTo>
                  <a:pt x="91" y="65"/>
                  <a:pt x="91" y="65"/>
                  <a:pt x="91" y="65"/>
                </a:cubicBezTo>
                <a:cubicBezTo>
                  <a:pt x="91" y="51"/>
                  <a:pt x="91" y="51"/>
                  <a:pt x="91" y="51"/>
                </a:cubicBezTo>
                <a:cubicBezTo>
                  <a:pt x="83" y="51"/>
                  <a:pt x="83" y="51"/>
                  <a:pt x="83" y="51"/>
                </a:cubicBezTo>
                <a:cubicBezTo>
                  <a:pt x="82" y="46"/>
                  <a:pt x="80" y="41"/>
                  <a:pt x="77" y="37"/>
                </a:cubicBezTo>
                <a:cubicBezTo>
                  <a:pt x="83" y="31"/>
                  <a:pt x="83" y="31"/>
                  <a:pt x="83" y="31"/>
                </a:cubicBezTo>
                <a:cubicBezTo>
                  <a:pt x="73" y="21"/>
                  <a:pt x="73" y="21"/>
                  <a:pt x="73" y="21"/>
                </a:cubicBezTo>
                <a:cubicBezTo>
                  <a:pt x="67" y="27"/>
                  <a:pt x="67" y="27"/>
                  <a:pt x="67" y="27"/>
                </a:cubicBezTo>
                <a:cubicBezTo>
                  <a:pt x="63" y="24"/>
                  <a:pt x="58" y="22"/>
                  <a:pt x="53" y="21"/>
                </a:cubicBezTo>
                <a:cubicBezTo>
                  <a:pt x="53" y="13"/>
                  <a:pt x="53" y="13"/>
                  <a:pt x="53" y="13"/>
                </a:cubicBezTo>
                <a:moveTo>
                  <a:pt x="46" y="87"/>
                </a:moveTo>
                <a:cubicBezTo>
                  <a:pt x="30" y="87"/>
                  <a:pt x="17" y="74"/>
                  <a:pt x="17" y="58"/>
                </a:cubicBezTo>
                <a:cubicBezTo>
                  <a:pt x="17" y="42"/>
                  <a:pt x="30" y="29"/>
                  <a:pt x="46" y="29"/>
                </a:cubicBezTo>
                <a:cubicBezTo>
                  <a:pt x="62" y="29"/>
                  <a:pt x="74" y="42"/>
                  <a:pt x="74" y="58"/>
                </a:cubicBezTo>
                <a:cubicBezTo>
                  <a:pt x="74" y="74"/>
                  <a:pt x="62" y="87"/>
                  <a:pt x="46" y="87"/>
                </a:cubicBezTo>
                <a:moveTo>
                  <a:pt x="104" y="33"/>
                </a:moveTo>
                <a:cubicBezTo>
                  <a:pt x="98" y="33"/>
                  <a:pt x="93" y="28"/>
                  <a:pt x="93" y="21"/>
                </a:cubicBezTo>
                <a:cubicBezTo>
                  <a:pt x="93" y="15"/>
                  <a:pt x="98" y="10"/>
                  <a:pt x="104" y="10"/>
                </a:cubicBezTo>
                <a:cubicBezTo>
                  <a:pt x="111" y="10"/>
                  <a:pt x="116" y="15"/>
                  <a:pt x="116" y="21"/>
                </a:cubicBezTo>
                <a:cubicBezTo>
                  <a:pt x="116" y="28"/>
                  <a:pt x="111" y="33"/>
                  <a:pt x="104" y="33"/>
                </a:cubicBezTo>
                <a:moveTo>
                  <a:pt x="108" y="0"/>
                </a:moveTo>
                <a:cubicBezTo>
                  <a:pt x="101" y="0"/>
                  <a:pt x="101" y="0"/>
                  <a:pt x="101" y="0"/>
                </a:cubicBezTo>
                <a:cubicBezTo>
                  <a:pt x="101" y="4"/>
                  <a:pt x="101" y="4"/>
                  <a:pt x="101" y="4"/>
                </a:cubicBezTo>
                <a:cubicBezTo>
                  <a:pt x="99" y="4"/>
                  <a:pt x="96" y="5"/>
                  <a:pt x="94" y="6"/>
                </a:cubicBezTo>
                <a:cubicBezTo>
                  <a:pt x="91" y="4"/>
                  <a:pt x="91" y="4"/>
                  <a:pt x="91" y="4"/>
                </a:cubicBezTo>
                <a:cubicBezTo>
                  <a:pt x="86" y="8"/>
                  <a:pt x="86" y="8"/>
                  <a:pt x="86" y="8"/>
                </a:cubicBezTo>
                <a:cubicBezTo>
                  <a:pt x="89" y="11"/>
                  <a:pt x="89" y="11"/>
                  <a:pt x="89" y="11"/>
                </a:cubicBezTo>
                <a:cubicBezTo>
                  <a:pt x="88" y="13"/>
                  <a:pt x="87" y="16"/>
                  <a:pt x="87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2" y="25"/>
                  <a:pt x="82" y="25"/>
                  <a:pt x="82" y="25"/>
                </a:cubicBezTo>
                <a:cubicBezTo>
                  <a:pt x="87" y="25"/>
                  <a:pt x="87" y="25"/>
                  <a:pt x="87" y="25"/>
                </a:cubicBezTo>
                <a:cubicBezTo>
                  <a:pt x="87" y="27"/>
                  <a:pt x="88" y="30"/>
                  <a:pt x="89" y="32"/>
                </a:cubicBezTo>
                <a:cubicBezTo>
                  <a:pt x="86" y="35"/>
                  <a:pt x="86" y="35"/>
                  <a:pt x="86" y="35"/>
                </a:cubicBezTo>
                <a:cubicBezTo>
                  <a:pt x="91" y="39"/>
                  <a:pt x="91" y="39"/>
                  <a:pt x="91" y="39"/>
                </a:cubicBezTo>
                <a:cubicBezTo>
                  <a:pt x="94" y="37"/>
                  <a:pt x="94" y="37"/>
                  <a:pt x="94" y="37"/>
                </a:cubicBezTo>
                <a:cubicBezTo>
                  <a:pt x="96" y="38"/>
                  <a:pt x="99" y="39"/>
                  <a:pt x="101" y="39"/>
                </a:cubicBezTo>
                <a:cubicBezTo>
                  <a:pt x="101" y="43"/>
                  <a:pt x="101" y="43"/>
                  <a:pt x="101" y="43"/>
                </a:cubicBezTo>
                <a:cubicBezTo>
                  <a:pt x="108" y="43"/>
                  <a:pt x="108" y="43"/>
                  <a:pt x="108" y="43"/>
                </a:cubicBezTo>
                <a:cubicBezTo>
                  <a:pt x="108" y="39"/>
                  <a:pt x="108" y="39"/>
                  <a:pt x="108" y="39"/>
                </a:cubicBezTo>
                <a:cubicBezTo>
                  <a:pt x="110" y="39"/>
                  <a:pt x="113" y="38"/>
                  <a:pt x="115" y="37"/>
                </a:cubicBezTo>
                <a:cubicBezTo>
                  <a:pt x="118" y="39"/>
                  <a:pt x="118" y="39"/>
                  <a:pt x="118" y="39"/>
                </a:cubicBezTo>
                <a:cubicBezTo>
                  <a:pt x="122" y="35"/>
                  <a:pt x="122" y="35"/>
                  <a:pt x="122" y="35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121" y="30"/>
                  <a:pt x="122" y="27"/>
                  <a:pt x="122" y="25"/>
                </a:cubicBezTo>
                <a:cubicBezTo>
                  <a:pt x="126" y="25"/>
                  <a:pt x="126" y="25"/>
                  <a:pt x="126" y="25"/>
                </a:cubicBezTo>
                <a:cubicBezTo>
                  <a:pt x="126" y="18"/>
                  <a:pt x="126" y="18"/>
                  <a:pt x="126" y="18"/>
                </a:cubicBezTo>
                <a:cubicBezTo>
                  <a:pt x="122" y="18"/>
                  <a:pt x="122" y="18"/>
                  <a:pt x="122" y="18"/>
                </a:cubicBezTo>
                <a:cubicBezTo>
                  <a:pt x="122" y="16"/>
                  <a:pt x="121" y="13"/>
                  <a:pt x="120" y="11"/>
                </a:cubicBezTo>
                <a:cubicBezTo>
                  <a:pt x="122" y="8"/>
                  <a:pt x="122" y="8"/>
                  <a:pt x="122" y="8"/>
                </a:cubicBezTo>
                <a:cubicBezTo>
                  <a:pt x="118" y="4"/>
                  <a:pt x="118" y="4"/>
                  <a:pt x="118" y="4"/>
                </a:cubicBezTo>
                <a:cubicBezTo>
                  <a:pt x="115" y="6"/>
                  <a:pt x="115" y="6"/>
                  <a:pt x="115" y="6"/>
                </a:cubicBezTo>
                <a:cubicBezTo>
                  <a:pt x="113" y="5"/>
                  <a:pt x="110" y="4"/>
                  <a:pt x="108" y="4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09" name="椭圆 308"/>
          <p:cNvSpPr/>
          <p:nvPr/>
        </p:nvSpPr>
        <p:spPr>
          <a:xfrm>
            <a:off x="3572694" y="2297854"/>
            <a:ext cx="2308860" cy="2303780"/>
          </a:xfrm>
          <a:prstGeom prst="ellipse">
            <a:avLst/>
          </a:prstGeom>
          <a:solidFill>
            <a:srgbClr val="0000FF"/>
          </a:solidFill>
          <a:ln w="19050">
            <a:gradFill flip="none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889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0" name="椭圆 309"/>
          <p:cNvSpPr/>
          <p:nvPr/>
        </p:nvSpPr>
        <p:spPr>
          <a:xfrm>
            <a:off x="3736948" y="2459568"/>
            <a:ext cx="1980353" cy="1980353"/>
          </a:xfrm>
          <a:prstGeom prst="ellipse">
            <a:avLst/>
          </a:prstGeom>
          <a:solidFill>
            <a:srgbClr val="0000F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1" name="椭圆 310"/>
          <p:cNvSpPr/>
          <p:nvPr/>
        </p:nvSpPr>
        <p:spPr>
          <a:xfrm>
            <a:off x="3937608" y="2660228"/>
            <a:ext cx="1579033" cy="1579033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innerShdw blurRad="177800" dist="177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2" name="Freeform 9"/>
          <p:cNvSpPr>
            <a:spLocks noChangeAspect="1" noEditPoints="1"/>
          </p:cNvSpPr>
          <p:nvPr/>
        </p:nvSpPr>
        <p:spPr>
          <a:xfrm>
            <a:off x="4135728" y="3143674"/>
            <a:ext cx="1182793" cy="612140"/>
          </a:xfrm>
          <a:custGeom>
            <a:avLst/>
            <a:gdLst>
              <a:gd name="T0" fmla="*/ 114 w 132"/>
              <a:gd name="T1" fmla="*/ 26 h 67"/>
              <a:gd name="T2" fmla="*/ 108 w 132"/>
              <a:gd name="T3" fmla="*/ 32 h 67"/>
              <a:gd name="T4" fmla="*/ 110 w 132"/>
              <a:gd name="T5" fmla="*/ 37 h 67"/>
              <a:gd name="T6" fmla="*/ 99 w 132"/>
              <a:gd name="T7" fmla="*/ 55 h 67"/>
              <a:gd name="T8" fmla="*/ 100 w 132"/>
              <a:gd name="T9" fmla="*/ 55 h 67"/>
              <a:gd name="T10" fmla="*/ 107 w 132"/>
              <a:gd name="T11" fmla="*/ 49 h 67"/>
              <a:gd name="T12" fmla="*/ 104 w 132"/>
              <a:gd name="T13" fmla="*/ 67 h 67"/>
              <a:gd name="T14" fmla="*/ 110 w 132"/>
              <a:gd name="T15" fmla="*/ 67 h 67"/>
              <a:gd name="T16" fmla="*/ 114 w 132"/>
              <a:gd name="T17" fmla="*/ 60 h 67"/>
              <a:gd name="T18" fmla="*/ 119 w 132"/>
              <a:gd name="T19" fmla="*/ 67 h 67"/>
              <a:gd name="T20" fmla="*/ 124 w 132"/>
              <a:gd name="T21" fmla="*/ 67 h 67"/>
              <a:gd name="T22" fmla="*/ 121 w 132"/>
              <a:gd name="T23" fmla="*/ 49 h 67"/>
              <a:gd name="T24" fmla="*/ 128 w 132"/>
              <a:gd name="T25" fmla="*/ 55 h 67"/>
              <a:gd name="T26" fmla="*/ 130 w 132"/>
              <a:gd name="T27" fmla="*/ 55 h 67"/>
              <a:gd name="T28" fmla="*/ 118 w 132"/>
              <a:gd name="T29" fmla="*/ 37 h 67"/>
              <a:gd name="T30" fmla="*/ 121 w 132"/>
              <a:gd name="T31" fmla="*/ 32 h 67"/>
              <a:gd name="T32" fmla="*/ 114 w 132"/>
              <a:gd name="T33" fmla="*/ 26 h 67"/>
              <a:gd name="T34" fmla="*/ 18 w 132"/>
              <a:gd name="T35" fmla="*/ 26 h 67"/>
              <a:gd name="T36" fmla="*/ 11 w 132"/>
              <a:gd name="T37" fmla="*/ 32 h 67"/>
              <a:gd name="T38" fmla="*/ 13 w 132"/>
              <a:gd name="T39" fmla="*/ 37 h 67"/>
              <a:gd name="T40" fmla="*/ 2 w 132"/>
              <a:gd name="T41" fmla="*/ 55 h 67"/>
              <a:gd name="T42" fmla="*/ 3 w 132"/>
              <a:gd name="T43" fmla="*/ 55 h 67"/>
              <a:gd name="T44" fmla="*/ 11 w 132"/>
              <a:gd name="T45" fmla="*/ 49 h 67"/>
              <a:gd name="T46" fmla="*/ 7 w 132"/>
              <a:gd name="T47" fmla="*/ 67 h 67"/>
              <a:gd name="T48" fmla="*/ 13 w 132"/>
              <a:gd name="T49" fmla="*/ 67 h 67"/>
              <a:gd name="T50" fmla="*/ 18 w 132"/>
              <a:gd name="T51" fmla="*/ 60 h 67"/>
              <a:gd name="T52" fmla="*/ 22 w 132"/>
              <a:gd name="T53" fmla="*/ 67 h 67"/>
              <a:gd name="T54" fmla="*/ 28 w 132"/>
              <a:gd name="T55" fmla="*/ 67 h 67"/>
              <a:gd name="T56" fmla="*/ 24 w 132"/>
              <a:gd name="T57" fmla="*/ 49 h 67"/>
              <a:gd name="T58" fmla="*/ 32 w 132"/>
              <a:gd name="T59" fmla="*/ 55 h 67"/>
              <a:gd name="T60" fmla="*/ 33 w 132"/>
              <a:gd name="T61" fmla="*/ 55 h 67"/>
              <a:gd name="T62" fmla="*/ 22 w 132"/>
              <a:gd name="T63" fmla="*/ 37 h 67"/>
              <a:gd name="T64" fmla="*/ 24 w 132"/>
              <a:gd name="T65" fmla="*/ 32 h 67"/>
              <a:gd name="T66" fmla="*/ 18 w 132"/>
              <a:gd name="T67" fmla="*/ 26 h 67"/>
              <a:gd name="T68" fmla="*/ 67 w 132"/>
              <a:gd name="T69" fmla="*/ 0 h 67"/>
              <a:gd name="T70" fmla="*/ 57 w 132"/>
              <a:gd name="T71" fmla="*/ 10 h 67"/>
              <a:gd name="T72" fmla="*/ 60 w 132"/>
              <a:gd name="T73" fmla="*/ 18 h 67"/>
              <a:gd name="T74" fmla="*/ 42 w 132"/>
              <a:gd name="T75" fmla="*/ 47 h 67"/>
              <a:gd name="T76" fmla="*/ 44 w 132"/>
              <a:gd name="T77" fmla="*/ 48 h 67"/>
              <a:gd name="T78" fmla="*/ 56 w 132"/>
              <a:gd name="T79" fmla="*/ 38 h 67"/>
              <a:gd name="T80" fmla="*/ 50 w 132"/>
              <a:gd name="T81" fmla="*/ 67 h 67"/>
              <a:gd name="T82" fmla="*/ 60 w 132"/>
              <a:gd name="T83" fmla="*/ 67 h 67"/>
              <a:gd name="T84" fmla="*/ 67 w 132"/>
              <a:gd name="T85" fmla="*/ 55 h 67"/>
              <a:gd name="T86" fmla="*/ 74 w 132"/>
              <a:gd name="T87" fmla="*/ 67 h 67"/>
              <a:gd name="T88" fmla="*/ 84 w 132"/>
              <a:gd name="T89" fmla="*/ 67 h 67"/>
              <a:gd name="T90" fmla="*/ 78 w 132"/>
              <a:gd name="T91" fmla="*/ 38 h 67"/>
              <a:gd name="T92" fmla="*/ 90 w 132"/>
              <a:gd name="T93" fmla="*/ 48 h 67"/>
              <a:gd name="T94" fmla="*/ 92 w 132"/>
              <a:gd name="T95" fmla="*/ 47 h 67"/>
              <a:gd name="T96" fmla="*/ 74 w 132"/>
              <a:gd name="T97" fmla="*/ 18 h 67"/>
              <a:gd name="T98" fmla="*/ 77 w 132"/>
              <a:gd name="T99" fmla="*/ 10 h 67"/>
              <a:gd name="T100" fmla="*/ 67 w 132"/>
              <a:gd name="T101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2" h="67">
                <a:moveTo>
                  <a:pt x="114" y="26"/>
                </a:moveTo>
                <a:cubicBezTo>
                  <a:pt x="111" y="26"/>
                  <a:pt x="108" y="29"/>
                  <a:pt x="108" y="32"/>
                </a:cubicBezTo>
                <a:cubicBezTo>
                  <a:pt x="108" y="34"/>
                  <a:pt x="109" y="36"/>
                  <a:pt x="110" y="37"/>
                </a:cubicBezTo>
                <a:cubicBezTo>
                  <a:pt x="104" y="40"/>
                  <a:pt x="96" y="53"/>
                  <a:pt x="99" y="55"/>
                </a:cubicBezTo>
                <a:cubicBezTo>
                  <a:pt x="99" y="55"/>
                  <a:pt x="100" y="55"/>
                  <a:pt x="100" y="55"/>
                </a:cubicBezTo>
                <a:cubicBezTo>
                  <a:pt x="102" y="55"/>
                  <a:pt x="105" y="52"/>
                  <a:pt x="107" y="49"/>
                </a:cubicBezTo>
                <a:cubicBezTo>
                  <a:pt x="106" y="55"/>
                  <a:pt x="105" y="62"/>
                  <a:pt x="104" y="67"/>
                </a:cubicBezTo>
                <a:cubicBezTo>
                  <a:pt x="110" y="67"/>
                  <a:pt x="110" y="67"/>
                  <a:pt x="110" y="67"/>
                </a:cubicBezTo>
                <a:cubicBezTo>
                  <a:pt x="110" y="64"/>
                  <a:pt x="112" y="60"/>
                  <a:pt x="114" y="60"/>
                </a:cubicBezTo>
                <a:cubicBezTo>
                  <a:pt x="116" y="60"/>
                  <a:pt x="119" y="64"/>
                  <a:pt x="119" y="67"/>
                </a:cubicBezTo>
                <a:cubicBezTo>
                  <a:pt x="124" y="67"/>
                  <a:pt x="124" y="67"/>
                  <a:pt x="124" y="67"/>
                </a:cubicBezTo>
                <a:cubicBezTo>
                  <a:pt x="124" y="62"/>
                  <a:pt x="123" y="55"/>
                  <a:pt x="121" y="49"/>
                </a:cubicBezTo>
                <a:cubicBezTo>
                  <a:pt x="123" y="52"/>
                  <a:pt x="126" y="55"/>
                  <a:pt x="128" y="55"/>
                </a:cubicBezTo>
                <a:cubicBezTo>
                  <a:pt x="129" y="55"/>
                  <a:pt x="129" y="55"/>
                  <a:pt x="130" y="55"/>
                </a:cubicBezTo>
                <a:cubicBezTo>
                  <a:pt x="132" y="53"/>
                  <a:pt x="125" y="40"/>
                  <a:pt x="118" y="37"/>
                </a:cubicBezTo>
                <a:cubicBezTo>
                  <a:pt x="120" y="36"/>
                  <a:pt x="121" y="34"/>
                  <a:pt x="121" y="32"/>
                </a:cubicBezTo>
                <a:cubicBezTo>
                  <a:pt x="121" y="29"/>
                  <a:pt x="118" y="26"/>
                  <a:pt x="114" y="26"/>
                </a:cubicBezTo>
                <a:moveTo>
                  <a:pt x="18" y="26"/>
                </a:moveTo>
                <a:cubicBezTo>
                  <a:pt x="14" y="26"/>
                  <a:pt x="11" y="29"/>
                  <a:pt x="11" y="32"/>
                </a:cubicBezTo>
                <a:cubicBezTo>
                  <a:pt x="11" y="34"/>
                  <a:pt x="12" y="36"/>
                  <a:pt x="13" y="37"/>
                </a:cubicBezTo>
                <a:cubicBezTo>
                  <a:pt x="7" y="40"/>
                  <a:pt x="0" y="53"/>
                  <a:pt x="2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6" y="55"/>
                  <a:pt x="8" y="52"/>
                  <a:pt x="11" y="49"/>
                </a:cubicBezTo>
                <a:cubicBezTo>
                  <a:pt x="9" y="55"/>
                  <a:pt x="8" y="62"/>
                  <a:pt x="7" y="67"/>
                </a:cubicBezTo>
                <a:cubicBezTo>
                  <a:pt x="13" y="67"/>
                  <a:pt x="13" y="67"/>
                  <a:pt x="13" y="67"/>
                </a:cubicBezTo>
                <a:cubicBezTo>
                  <a:pt x="13" y="64"/>
                  <a:pt x="15" y="60"/>
                  <a:pt x="18" y="60"/>
                </a:cubicBezTo>
                <a:cubicBezTo>
                  <a:pt x="20" y="60"/>
                  <a:pt x="22" y="64"/>
                  <a:pt x="22" y="67"/>
                </a:cubicBezTo>
                <a:cubicBezTo>
                  <a:pt x="28" y="67"/>
                  <a:pt x="28" y="67"/>
                  <a:pt x="28" y="67"/>
                </a:cubicBezTo>
                <a:cubicBezTo>
                  <a:pt x="27" y="62"/>
                  <a:pt x="26" y="55"/>
                  <a:pt x="24" y="49"/>
                </a:cubicBezTo>
                <a:cubicBezTo>
                  <a:pt x="27" y="52"/>
                  <a:pt x="29" y="55"/>
                  <a:pt x="32" y="55"/>
                </a:cubicBezTo>
                <a:cubicBezTo>
                  <a:pt x="32" y="55"/>
                  <a:pt x="33" y="55"/>
                  <a:pt x="33" y="55"/>
                </a:cubicBezTo>
                <a:cubicBezTo>
                  <a:pt x="35" y="53"/>
                  <a:pt x="28" y="40"/>
                  <a:pt x="22" y="37"/>
                </a:cubicBezTo>
                <a:cubicBezTo>
                  <a:pt x="23" y="36"/>
                  <a:pt x="24" y="34"/>
                  <a:pt x="24" y="32"/>
                </a:cubicBezTo>
                <a:cubicBezTo>
                  <a:pt x="24" y="29"/>
                  <a:pt x="21" y="26"/>
                  <a:pt x="18" y="26"/>
                </a:cubicBezTo>
                <a:moveTo>
                  <a:pt x="67" y="0"/>
                </a:moveTo>
                <a:cubicBezTo>
                  <a:pt x="61" y="0"/>
                  <a:pt x="57" y="5"/>
                  <a:pt x="57" y="10"/>
                </a:cubicBezTo>
                <a:cubicBezTo>
                  <a:pt x="57" y="14"/>
                  <a:pt x="58" y="17"/>
                  <a:pt x="60" y="18"/>
                </a:cubicBezTo>
                <a:cubicBezTo>
                  <a:pt x="50" y="22"/>
                  <a:pt x="38" y="43"/>
                  <a:pt x="42" y="47"/>
                </a:cubicBezTo>
                <a:cubicBezTo>
                  <a:pt x="43" y="48"/>
                  <a:pt x="43" y="48"/>
                  <a:pt x="44" y="48"/>
                </a:cubicBezTo>
                <a:cubicBezTo>
                  <a:pt x="48" y="48"/>
                  <a:pt x="52" y="43"/>
                  <a:pt x="56" y="38"/>
                </a:cubicBezTo>
                <a:cubicBezTo>
                  <a:pt x="53" y="47"/>
                  <a:pt x="51" y="58"/>
                  <a:pt x="50" y="67"/>
                </a:cubicBezTo>
                <a:cubicBezTo>
                  <a:pt x="60" y="67"/>
                  <a:pt x="60" y="67"/>
                  <a:pt x="60" y="67"/>
                </a:cubicBezTo>
                <a:cubicBezTo>
                  <a:pt x="60" y="62"/>
                  <a:pt x="63" y="55"/>
                  <a:pt x="67" y="55"/>
                </a:cubicBezTo>
                <a:cubicBezTo>
                  <a:pt x="71" y="55"/>
                  <a:pt x="74" y="62"/>
                  <a:pt x="74" y="67"/>
                </a:cubicBezTo>
                <a:cubicBezTo>
                  <a:pt x="84" y="67"/>
                  <a:pt x="84" y="67"/>
                  <a:pt x="84" y="67"/>
                </a:cubicBezTo>
                <a:cubicBezTo>
                  <a:pt x="83" y="58"/>
                  <a:pt x="81" y="47"/>
                  <a:pt x="78" y="38"/>
                </a:cubicBezTo>
                <a:cubicBezTo>
                  <a:pt x="82" y="43"/>
                  <a:pt x="87" y="48"/>
                  <a:pt x="90" y="48"/>
                </a:cubicBezTo>
                <a:cubicBezTo>
                  <a:pt x="91" y="48"/>
                  <a:pt x="91" y="48"/>
                  <a:pt x="92" y="47"/>
                </a:cubicBezTo>
                <a:cubicBezTo>
                  <a:pt x="96" y="43"/>
                  <a:pt x="84" y="22"/>
                  <a:pt x="74" y="18"/>
                </a:cubicBezTo>
                <a:cubicBezTo>
                  <a:pt x="76" y="17"/>
                  <a:pt x="77" y="14"/>
                  <a:pt x="77" y="10"/>
                </a:cubicBezTo>
                <a:cubicBezTo>
                  <a:pt x="77" y="5"/>
                  <a:pt x="73" y="0"/>
                  <a:pt x="67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14" name="椭圆 313"/>
          <p:cNvSpPr/>
          <p:nvPr/>
        </p:nvSpPr>
        <p:spPr>
          <a:xfrm>
            <a:off x="5859541" y="2297854"/>
            <a:ext cx="2308860" cy="2303780"/>
          </a:xfrm>
          <a:prstGeom prst="ellipse">
            <a:avLst/>
          </a:prstGeom>
          <a:solidFill>
            <a:srgbClr val="0000FF"/>
          </a:solidFill>
          <a:ln w="19050">
            <a:gradFill flip="none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889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5" name="椭圆 314"/>
          <p:cNvSpPr/>
          <p:nvPr/>
        </p:nvSpPr>
        <p:spPr>
          <a:xfrm>
            <a:off x="6024641" y="2459568"/>
            <a:ext cx="1980353" cy="1980353"/>
          </a:xfrm>
          <a:prstGeom prst="ellipse">
            <a:avLst/>
          </a:prstGeom>
          <a:solidFill>
            <a:srgbClr val="0000F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6" name="椭圆 315"/>
          <p:cNvSpPr/>
          <p:nvPr/>
        </p:nvSpPr>
        <p:spPr>
          <a:xfrm>
            <a:off x="6224454" y="2660228"/>
            <a:ext cx="1579033" cy="1579033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innerShdw blurRad="177800" dist="177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17" name="Freeform 13"/>
          <p:cNvSpPr>
            <a:spLocks noChangeAspect="1" noEditPoints="1"/>
          </p:cNvSpPr>
          <p:nvPr/>
        </p:nvSpPr>
        <p:spPr>
          <a:xfrm>
            <a:off x="6675727" y="3143674"/>
            <a:ext cx="678180" cy="612140"/>
          </a:xfrm>
          <a:custGeom>
            <a:avLst/>
            <a:gdLst>
              <a:gd name="T0" fmla="*/ 52 w 106"/>
              <a:gd name="T1" fmla="*/ 61 h 95"/>
              <a:gd name="T2" fmla="*/ 37 w 106"/>
              <a:gd name="T3" fmla="*/ 72 h 95"/>
              <a:gd name="T4" fmla="*/ 37 w 106"/>
              <a:gd name="T5" fmla="*/ 56 h 95"/>
              <a:gd name="T6" fmla="*/ 20 w 106"/>
              <a:gd name="T7" fmla="*/ 31 h 95"/>
              <a:gd name="T8" fmla="*/ 0 w 106"/>
              <a:gd name="T9" fmla="*/ 55 h 95"/>
              <a:gd name="T10" fmla="*/ 40 w 106"/>
              <a:gd name="T11" fmla="*/ 82 h 95"/>
              <a:gd name="T12" fmla="*/ 53 w 106"/>
              <a:gd name="T13" fmla="*/ 81 h 95"/>
              <a:gd name="T14" fmla="*/ 67 w 106"/>
              <a:gd name="T15" fmla="*/ 95 h 95"/>
              <a:gd name="T16" fmla="*/ 63 w 106"/>
              <a:gd name="T17" fmla="*/ 78 h 95"/>
              <a:gd name="T18" fmla="*/ 80 w 106"/>
              <a:gd name="T19" fmla="*/ 60 h 95"/>
              <a:gd name="T20" fmla="*/ 64 w 106"/>
              <a:gd name="T21" fmla="*/ 62 h 95"/>
              <a:gd name="T22" fmla="*/ 52 w 106"/>
              <a:gd name="T23" fmla="*/ 61 h 95"/>
              <a:gd name="T24" fmla="*/ 66 w 106"/>
              <a:gd name="T25" fmla="*/ 0 h 95"/>
              <a:gd name="T26" fmla="*/ 26 w 106"/>
              <a:gd name="T27" fmla="*/ 27 h 95"/>
              <a:gd name="T28" fmla="*/ 43 w 106"/>
              <a:gd name="T29" fmla="*/ 50 h 95"/>
              <a:gd name="T30" fmla="*/ 43 w 106"/>
              <a:gd name="T31" fmla="*/ 61 h 95"/>
              <a:gd name="T32" fmla="*/ 54 w 106"/>
              <a:gd name="T33" fmla="*/ 53 h 95"/>
              <a:gd name="T34" fmla="*/ 66 w 106"/>
              <a:gd name="T35" fmla="*/ 55 h 95"/>
              <a:gd name="T36" fmla="*/ 106 w 106"/>
              <a:gd name="T37" fmla="*/ 27 h 95"/>
              <a:gd name="T38" fmla="*/ 66 w 106"/>
              <a:gd name="T39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6" h="95">
                <a:moveTo>
                  <a:pt x="52" y="61"/>
                </a:moveTo>
                <a:cubicBezTo>
                  <a:pt x="50" y="62"/>
                  <a:pt x="37" y="72"/>
                  <a:pt x="37" y="72"/>
                </a:cubicBezTo>
                <a:cubicBezTo>
                  <a:pt x="37" y="72"/>
                  <a:pt x="37" y="59"/>
                  <a:pt x="37" y="56"/>
                </a:cubicBezTo>
                <a:cubicBezTo>
                  <a:pt x="26" y="50"/>
                  <a:pt x="20" y="41"/>
                  <a:pt x="20" y="31"/>
                </a:cubicBezTo>
                <a:cubicBezTo>
                  <a:pt x="8" y="36"/>
                  <a:pt x="0" y="45"/>
                  <a:pt x="0" y="55"/>
                </a:cubicBezTo>
                <a:cubicBezTo>
                  <a:pt x="0" y="70"/>
                  <a:pt x="18" y="82"/>
                  <a:pt x="40" y="82"/>
                </a:cubicBezTo>
                <a:cubicBezTo>
                  <a:pt x="45" y="82"/>
                  <a:pt x="49" y="82"/>
                  <a:pt x="53" y="81"/>
                </a:cubicBezTo>
                <a:cubicBezTo>
                  <a:pt x="67" y="95"/>
                  <a:pt x="67" y="95"/>
                  <a:pt x="67" y="95"/>
                </a:cubicBezTo>
                <a:cubicBezTo>
                  <a:pt x="63" y="78"/>
                  <a:pt x="63" y="78"/>
                  <a:pt x="63" y="78"/>
                </a:cubicBezTo>
                <a:cubicBezTo>
                  <a:pt x="72" y="74"/>
                  <a:pt x="78" y="67"/>
                  <a:pt x="80" y="60"/>
                </a:cubicBezTo>
                <a:cubicBezTo>
                  <a:pt x="75" y="61"/>
                  <a:pt x="69" y="62"/>
                  <a:pt x="64" y="62"/>
                </a:cubicBezTo>
                <a:cubicBezTo>
                  <a:pt x="60" y="62"/>
                  <a:pt x="56" y="62"/>
                  <a:pt x="52" y="61"/>
                </a:cubicBezTo>
                <a:close/>
                <a:moveTo>
                  <a:pt x="66" y="0"/>
                </a:moveTo>
                <a:cubicBezTo>
                  <a:pt x="44" y="0"/>
                  <a:pt x="26" y="12"/>
                  <a:pt x="26" y="27"/>
                </a:cubicBezTo>
                <a:cubicBezTo>
                  <a:pt x="26" y="36"/>
                  <a:pt x="33" y="45"/>
                  <a:pt x="43" y="50"/>
                </a:cubicBezTo>
                <a:cubicBezTo>
                  <a:pt x="43" y="61"/>
                  <a:pt x="43" y="61"/>
                  <a:pt x="43" y="61"/>
                </a:cubicBezTo>
                <a:cubicBezTo>
                  <a:pt x="54" y="53"/>
                  <a:pt x="54" y="53"/>
                  <a:pt x="54" y="53"/>
                </a:cubicBezTo>
                <a:cubicBezTo>
                  <a:pt x="57" y="54"/>
                  <a:pt x="62" y="55"/>
                  <a:pt x="66" y="55"/>
                </a:cubicBezTo>
                <a:cubicBezTo>
                  <a:pt x="88" y="55"/>
                  <a:pt x="106" y="42"/>
                  <a:pt x="106" y="27"/>
                </a:cubicBezTo>
                <a:cubicBezTo>
                  <a:pt x="106" y="12"/>
                  <a:pt x="88" y="0"/>
                  <a:pt x="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19" name="椭圆 318"/>
          <p:cNvSpPr/>
          <p:nvPr/>
        </p:nvSpPr>
        <p:spPr>
          <a:xfrm>
            <a:off x="8146387" y="2297854"/>
            <a:ext cx="2308860" cy="2303780"/>
          </a:xfrm>
          <a:prstGeom prst="ellipse">
            <a:avLst/>
          </a:prstGeom>
          <a:solidFill>
            <a:srgbClr val="0000FF"/>
          </a:solidFill>
          <a:ln w="19050">
            <a:gradFill flip="none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889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20" name="椭圆 319"/>
          <p:cNvSpPr/>
          <p:nvPr/>
        </p:nvSpPr>
        <p:spPr>
          <a:xfrm>
            <a:off x="8311488" y="2459568"/>
            <a:ext cx="1980353" cy="1980353"/>
          </a:xfrm>
          <a:prstGeom prst="ellipse">
            <a:avLst/>
          </a:prstGeom>
          <a:solidFill>
            <a:srgbClr val="0000F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21" name="椭圆 320"/>
          <p:cNvSpPr/>
          <p:nvPr/>
        </p:nvSpPr>
        <p:spPr>
          <a:xfrm>
            <a:off x="8512148" y="2660228"/>
            <a:ext cx="1579033" cy="1579033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innerShdw blurRad="177800" dist="177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/>
                <a:cs typeface="+mn-cs"/>
              </a:defRPr>
            </a:lvl9pPr>
          </a:lstStyle>
          <a:p/>
        </p:txBody>
      </p:sp>
      <p:sp>
        <p:nvSpPr>
          <p:cNvPr id="322" name="Freeform 17"/>
          <p:cNvSpPr>
            <a:spLocks noChangeAspect="1" noEditPoints="1"/>
          </p:cNvSpPr>
          <p:nvPr/>
        </p:nvSpPr>
        <p:spPr>
          <a:xfrm>
            <a:off x="9033694" y="3143674"/>
            <a:ext cx="535093" cy="612140"/>
          </a:xfrm>
          <a:custGeom>
            <a:avLst/>
            <a:gdLst>
              <a:gd name="T0" fmla="*/ 43 w 83"/>
              <a:gd name="T1" fmla="*/ 27 h 95"/>
              <a:gd name="T2" fmla="*/ 41 w 83"/>
              <a:gd name="T3" fmla="*/ 27 h 95"/>
              <a:gd name="T4" fmla="*/ 41 w 83"/>
              <a:gd name="T5" fmla="*/ 53 h 95"/>
              <a:gd name="T6" fmla="*/ 39 w 83"/>
              <a:gd name="T7" fmla="*/ 55 h 95"/>
              <a:gd name="T8" fmla="*/ 40 w 83"/>
              <a:gd name="T9" fmla="*/ 56 h 95"/>
              <a:gd name="T10" fmla="*/ 41 w 83"/>
              <a:gd name="T11" fmla="*/ 55 h 95"/>
              <a:gd name="T12" fmla="*/ 41 w 83"/>
              <a:gd name="T13" fmla="*/ 58 h 95"/>
              <a:gd name="T14" fmla="*/ 43 w 83"/>
              <a:gd name="T15" fmla="*/ 58 h 95"/>
              <a:gd name="T16" fmla="*/ 43 w 83"/>
              <a:gd name="T17" fmla="*/ 54 h 95"/>
              <a:gd name="T18" fmla="*/ 57 w 83"/>
              <a:gd name="T19" fmla="*/ 39 h 95"/>
              <a:gd name="T20" fmla="*/ 56 w 83"/>
              <a:gd name="T21" fmla="*/ 38 h 95"/>
              <a:gd name="T22" fmla="*/ 43 w 83"/>
              <a:gd name="T23" fmla="*/ 51 h 95"/>
              <a:gd name="T24" fmla="*/ 43 w 83"/>
              <a:gd name="T25" fmla="*/ 27 h 95"/>
              <a:gd name="T26" fmla="*/ 41 w 83"/>
              <a:gd name="T27" fmla="*/ 25 h 95"/>
              <a:gd name="T28" fmla="*/ 43 w 83"/>
              <a:gd name="T29" fmla="*/ 25 h 95"/>
              <a:gd name="T30" fmla="*/ 43 w 83"/>
              <a:gd name="T31" fmla="*/ 17 h 95"/>
              <a:gd name="T32" fmla="*/ 66 w 83"/>
              <a:gd name="T33" fmla="*/ 27 h 95"/>
              <a:gd name="T34" fmla="*/ 61 w 83"/>
              <a:gd name="T35" fmla="*/ 32 h 95"/>
              <a:gd name="T36" fmla="*/ 63 w 83"/>
              <a:gd name="T37" fmla="*/ 34 h 95"/>
              <a:gd name="T38" fmla="*/ 68 w 83"/>
              <a:gd name="T39" fmla="*/ 29 h 95"/>
              <a:gd name="T40" fmla="*/ 78 w 83"/>
              <a:gd name="T41" fmla="*/ 52 h 95"/>
              <a:gd name="T42" fmla="*/ 70 w 83"/>
              <a:gd name="T43" fmla="*/ 52 h 95"/>
              <a:gd name="T44" fmla="*/ 70 w 83"/>
              <a:gd name="T45" fmla="*/ 54 h 95"/>
              <a:gd name="T46" fmla="*/ 78 w 83"/>
              <a:gd name="T47" fmla="*/ 54 h 95"/>
              <a:gd name="T48" fmla="*/ 68 w 83"/>
              <a:gd name="T49" fmla="*/ 78 h 95"/>
              <a:gd name="T50" fmla="*/ 63 w 83"/>
              <a:gd name="T51" fmla="*/ 72 h 95"/>
              <a:gd name="T52" fmla="*/ 61 w 83"/>
              <a:gd name="T53" fmla="*/ 74 h 95"/>
              <a:gd name="T54" fmla="*/ 66 w 83"/>
              <a:gd name="T55" fmla="*/ 79 h 95"/>
              <a:gd name="T56" fmla="*/ 43 w 83"/>
              <a:gd name="T57" fmla="*/ 89 h 95"/>
              <a:gd name="T58" fmla="*/ 43 w 83"/>
              <a:gd name="T59" fmla="*/ 82 h 95"/>
              <a:gd name="T60" fmla="*/ 41 w 83"/>
              <a:gd name="T61" fmla="*/ 82 h 95"/>
              <a:gd name="T62" fmla="*/ 41 w 83"/>
              <a:gd name="T63" fmla="*/ 89 h 95"/>
              <a:gd name="T64" fmla="*/ 17 w 83"/>
              <a:gd name="T65" fmla="*/ 79 h 95"/>
              <a:gd name="T66" fmla="*/ 22 w 83"/>
              <a:gd name="T67" fmla="*/ 74 h 95"/>
              <a:gd name="T68" fmla="*/ 21 w 83"/>
              <a:gd name="T69" fmla="*/ 72 h 95"/>
              <a:gd name="T70" fmla="*/ 16 w 83"/>
              <a:gd name="T71" fmla="*/ 78 h 95"/>
              <a:gd name="T72" fmla="*/ 6 w 83"/>
              <a:gd name="T73" fmla="*/ 54 h 95"/>
              <a:gd name="T74" fmla="*/ 13 w 83"/>
              <a:gd name="T75" fmla="*/ 54 h 95"/>
              <a:gd name="T76" fmla="*/ 13 w 83"/>
              <a:gd name="T77" fmla="*/ 52 h 95"/>
              <a:gd name="T78" fmla="*/ 6 w 83"/>
              <a:gd name="T79" fmla="*/ 52 h 95"/>
              <a:gd name="T80" fmla="*/ 16 w 83"/>
              <a:gd name="T81" fmla="*/ 29 h 95"/>
              <a:gd name="T82" fmla="*/ 21 w 83"/>
              <a:gd name="T83" fmla="*/ 34 h 95"/>
              <a:gd name="T84" fmla="*/ 22 w 83"/>
              <a:gd name="T85" fmla="*/ 32 h 95"/>
              <a:gd name="T86" fmla="*/ 17 w 83"/>
              <a:gd name="T87" fmla="*/ 27 h 95"/>
              <a:gd name="T88" fmla="*/ 41 w 83"/>
              <a:gd name="T89" fmla="*/ 17 h 95"/>
              <a:gd name="T90" fmla="*/ 41 w 83"/>
              <a:gd name="T91" fmla="*/ 25 h 95"/>
              <a:gd name="T92" fmla="*/ 52 w 83"/>
              <a:gd name="T93" fmla="*/ 0 h 95"/>
              <a:gd name="T94" fmla="*/ 32 w 83"/>
              <a:gd name="T95" fmla="*/ 0 h 95"/>
              <a:gd name="T96" fmla="*/ 32 w 83"/>
              <a:gd name="T97" fmla="*/ 8 h 95"/>
              <a:gd name="T98" fmla="*/ 39 w 83"/>
              <a:gd name="T99" fmla="*/ 8 h 95"/>
              <a:gd name="T100" fmla="*/ 39 w 83"/>
              <a:gd name="T101" fmla="*/ 12 h 95"/>
              <a:gd name="T102" fmla="*/ 0 w 83"/>
              <a:gd name="T103" fmla="*/ 53 h 95"/>
              <a:gd name="T104" fmla="*/ 42 w 83"/>
              <a:gd name="T105" fmla="*/ 95 h 95"/>
              <a:gd name="T106" fmla="*/ 83 w 83"/>
              <a:gd name="T107" fmla="*/ 53 h 95"/>
              <a:gd name="T108" fmla="*/ 44 w 83"/>
              <a:gd name="T109" fmla="*/ 12 h 95"/>
              <a:gd name="T110" fmla="*/ 44 w 83"/>
              <a:gd name="T111" fmla="*/ 8 h 95"/>
              <a:gd name="T112" fmla="*/ 52 w 83"/>
              <a:gd name="T113" fmla="*/ 8 h 95"/>
              <a:gd name="T114" fmla="*/ 52 w 83"/>
              <a:gd name="T115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3" h="95">
                <a:moveTo>
                  <a:pt x="43" y="27"/>
                </a:moveTo>
                <a:cubicBezTo>
                  <a:pt x="41" y="27"/>
                  <a:pt x="41" y="27"/>
                  <a:pt x="41" y="27"/>
                </a:cubicBezTo>
                <a:cubicBezTo>
                  <a:pt x="41" y="53"/>
                  <a:pt x="41" y="53"/>
                  <a:pt x="41" y="53"/>
                </a:cubicBezTo>
                <a:cubicBezTo>
                  <a:pt x="39" y="55"/>
                  <a:pt x="39" y="55"/>
                  <a:pt x="39" y="55"/>
                </a:cubicBezTo>
                <a:cubicBezTo>
                  <a:pt x="40" y="56"/>
                  <a:pt x="40" y="56"/>
                  <a:pt x="40" y="56"/>
                </a:cubicBezTo>
                <a:cubicBezTo>
                  <a:pt x="41" y="55"/>
                  <a:pt x="41" y="55"/>
                  <a:pt x="41" y="55"/>
                </a:cubicBezTo>
                <a:cubicBezTo>
                  <a:pt x="41" y="58"/>
                  <a:pt x="41" y="58"/>
                  <a:pt x="41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54"/>
                  <a:pt x="43" y="54"/>
                  <a:pt x="43" y="54"/>
                </a:cubicBezTo>
                <a:cubicBezTo>
                  <a:pt x="57" y="39"/>
                  <a:pt x="57" y="39"/>
                  <a:pt x="57" y="39"/>
                </a:cubicBezTo>
                <a:cubicBezTo>
                  <a:pt x="56" y="38"/>
                  <a:pt x="56" y="38"/>
                  <a:pt x="56" y="38"/>
                </a:cubicBezTo>
                <a:cubicBezTo>
                  <a:pt x="43" y="51"/>
                  <a:pt x="43" y="51"/>
                  <a:pt x="43" y="51"/>
                </a:cubicBezTo>
                <a:cubicBezTo>
                  <a:pt x="43" y="27"/>
                  <a:pt x="43" y="27"/>
                  <a:pt x="43" y="27"/>
                </a:cubicBezTo>
                <a:moveTo>
                  <a:pt x="41" y="25"/>
                </a:moveTo>
                <a:cubicBezTo>
                  <a:pt x="43" y="25"/>
                  <a:pt x="43" y="25"/>
                  <a:pt x="43" y="25"/>
                </a:cubicBezTo>
                <a:cubicBezTo>
                  <a:pt x="43" y="17"/>
                  <a:pt x="43" y="17"/>
                  <a:pt x="43" y="17"/>
                </a:cubicBezTo>
                <a:cubicBezTo>
                  <a:pt x="52" y="18"/>
                  <a:pt x="60" y="21"/>
                  <a:pt x="66" y="27"/>
                </a:cubicBezTo>
                <a:cubicBezTo>
                  <a:pt x="61" y="32"/>
                  <a:pt x="61" y="32"/>
                  <a:pt x="61" y="32"/>
                </a:cubicBezTo>
                <a:cubicBezTo>
                  <a:pt x="63" y="34"/>
                  <a:pt x="63" y="34"/>
                  <a:pt x="63" y="34"/>
                </a:cubicBezTo>
                <a:cubicBezTo>
                  <a:pt x="68" y="29"/>
                  <a:pt x="68" y="29"/>
                  <a:pt x="68" y="29"/>
                </a:cubicBezTo>
                <a:cubicBezTo>
                  <a:pt x="74" y="35"/>
                  <a:pt x="77" y="43"/>
                  <a:pt x="78" y="52"/>
                </a:cubicBezTo>
                <a:cubicBezTo>
                  <a:pt x="70" y="52"/>
                  <a:pt x="70" y="52"/>
                  <a:pt x="70" y="52"/>
                </a:cubicBezTo>
                <a:cubicBezTo>
                  <a:pt x="70" y="54"/>
                  <a:pt x="70" y="54"/>
                  <a:pt x="70" y="54"/>
                </a:cubicBezTo>
                <a:cubicBezTo>
                  <a:pt x="78" y="54"/>
                  <a:pt x="78" y="54"/>
                  <a:pt x="78" y="54"/>
                </a:cubicBezTo>
                <a:cubicBezTo>
                  <a:pt x="77" y="63"/>
                  <a:pt x="74" y="72"/>
                  <a:pt x="68" y="78"/>
                </a:cubicBezTo>
                <a:cubicBezTo>
                  <a:pt x="63" y="72"/>
                  <a:pt x="63" y="72"/>
                  <a:pt x="63" y="72"/>
                </a:cubicBezTo>
                <a:cubicBezTo>
                  <a:pt x="61" y="74"/>
                  <a:pt x="61" y="74"/>
                  <a:pt x="61" y="74"/>
                </a:cubicBezTo>
                <a:cubicBezTo>
                  <a:pt x="66" y="79"/>
                  <a:pt x="66" y="79"/>
                  <a:pt x="66" y="79"/>
                </a:cubicBezTo>
                <a:cubicBezTo>
                  <a:pt x="60" y="85"/>
                  <a:pt x="52" y="89"/>
                  <a:pt x="43" y="89"/>
                </a:cubicBezTo>
                <a:cubicBezTo>
                  <a:pt x="43" y="82"/>
                  <a:pt x="43" y="82"/>
                  <a:pt x="43" y="82"/>
                </a:cubicBezTo>
                <a:cubicBezTo>
                  <a:pt x="41" y="82"/>
                  <a:pt x="41" y="82"/>
                  <a:pt x="41" y="82"/>
                </a:cubicBezTo>
                <a:cubicBezTo>
                  <a:pt x="41" y="89"/>
                  <a:pt x="41" y="89"/>
                  <a:pt x="41" y="89"/>
                </a:cubicBezTo>
                <a:cubicBezTo>
                  <a:pt x="32" y="89"/>
                  <a:pt x="23" y="85"/>
                  <a:pt x="17" y="79"/>
                </a:cubicBezTo>
                <a:cubicBezTo>
                  <a:pt x="22" y="74"/>
                  <a:pt x="22" y="74"/>
                  <a:pt x="22" y="74"/>
                </a:cubicBezTo>
                <a:cubicBezTo>
                  <a:pt x="21" y="72"/>
                  <a:pt x="21" y="72"/>
                  <a:pt x="21" y="72"/>
                </a:cubicBezTo>
                <a:cubicBezTo>
                  <a:pt x="16" y="78"/>
                  <a:pt x="16" y="78"/>
                  <a:pt x="16" y="78"/>
                </a:cubicBezTo>
                <a:cubicBezTo>
                  <a:pt x="10" y="72"/>
                  <a:pt x="6" y="63"/>
                  <a:pt x="6" y="54"/>
                </a:cubicBezTo>
                <a:cubicBezTo>
                  <a:pt x="13" y="54"/>
                  <a:pt x="13" y="54"/>
                  <a:pt x="13" y="54"/>
                </a:cubicBezTo>
                <a:cubicBezTo>
                  <a:pt x="13" y="52"/>
                  <a:pt x="13" y="52"/>
                  <a:pt x="13" y="52"/>
                </a:cubicBezTo>
                <a:cubicBezTo>
                  <a:pt x="6" y="52"/>
                  <a:pt x="6" y="52"/>
                  <a:pt x="6" y="52"/>
                </a:cubicBezTo>
                <a:cubicBezTo>
                  <a:pt x="6" y="43"/>
                  <a:pt x="10" y="35"/>
                  <a:pt x="16" y="29"/>
                </a:cubicBezTo>
                <a:cubicBezTo>
                  <a:pt x="21" y="34"/>
                  <a:pt x="21" y="34"/>
                  <a:pt x="21" y="34"/>
                </a:cubicBezTo>
                <a:cubicBezTo>
                  <a:pt x="22" y="32"/>
                  <a:pt x="22" y="32"/>
                  <a:pt x="22" y="32"/>
                </a:cubicBezTo>
                <a:cubicBezTo>
                  <a:pt x="17" y="27"/>
                  <a:pt x="17" y="27"/>
                  <a:pt x="17" y="27"/>
                </a:cubicBezTo>
                <a:cubicBezTo>
                  <a:pt x="23" y="21"/>
                  <a:pt x="32" y="18"/>
                  <a:pt x="41" y="17"/>
                </a:cubicBezTo>
                <a:cubicBezTo>
                  <a:pt x="41" y="25"/>
                  <a:pt x="41" y="25"/>
                  <a:pt x="41" y="25"/>
                </a:cubicBezTo>
                <a:moveTo>
                  <a:pt x="52" y="0"/>
                </a:moveTo>
                <a:cubicBezTo>
                  <a:pt x="32" y="0"/>
                  <a:pt x="32" y="0"/>
                  <a:pt x="32" y="0"/>
                </a:cubicBezTo>
                <a:cubicBezTo>
                  <a:pt x="32" y="8"/>
                  <a:pt x="32" y="8"/>
                  <a:pt x="32" y="8"/>
                </a:cubicBezTo>
                <a:cubicBezTo>
                  <a:pt x="39" y="8"/>
                  <a:pt x="39" y="8"/>
                  <a:pt x="39" y="8"/>
                </a:cubicBezTo>
                <a:cubicBezTo>
                  <a:pt x="39" y="12"/>
                  <a:pt x="39" y="12"/>
                  <a:pt x="39" y="12"/>
                </a:cubicBezTo>
                <a:cubicBezTo>
                  <a:pt x="17" y="13"/>
                  <a:pt x="0" y="31"/>
                  <a:pt x="0" y="53"/>
                </a:cubicBezTo>
                <a:cubicBezTo>
                  <a:pt x="0" y="76"/>
                  <a:pt x="19" y="95"/>
                  <a:pt x="42" y="95"/>
                </a:cubicBezTo>
                <a:cubicBezTo>
                  <a:pt x="65" y="95"/>
                  <a:pt x="83" y="76"/>
                  <a:pt x="83" y="53"/>
                </a:cubicBezTo>
                <a:cubicBezTo>
                  <a:pt x="83" y="31"/>
                  <a:pt x="66" y="13"/>
                  <a:pt x="44" y="12"/>
                </a:cubicBezTo>
                <a:cubicBezTo>
                  <a:pt x="44" y="8"/>
                  <a:pt x="44" y="8"/>
                  <a:pt x="44" y="8"/>
                </a:cubicBezTo>
                <a:cubicBezTo>
                  <a:pt x="52" y="8"/>
                  <a:pt x="52" y="8"/>
                  <a:pt x="52" y="8"/>
                </a:cubicBezTo>
                <a:cubicBezTo>
                  <a:pt x="52" y="0"/>
                  <a:pt x="52" y="0"/>
                  <a:pt x="52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24" name="文本框 323"/>
          <p:cNvSpPr txBox="1"/>
          <p:nvPr/>
        </p:nvSpPr>
        <p:spPr>
          <a:xfrm>
            <a:off x="715147" y="4892887"/>
            <a:ext cx="1354714" cy="70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/>
            <a:r>
              <a:rPr lang="zh-CN" altLang="zh-CN" sz="4000"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1</a:t>
            </a:r>
            <a:endParaRPr lang="zh-CN" altLang="zh-CN" sz="4000"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5336692" y="4892887"/>
            <a:ext cx="1354714" cy="70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/>
            <a:r>
              <a:rPr lang="zh-CN" altLang="zh-CN" sz="4000"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3</a:t>
            </a:r>
            <a:endParaRPr lang="zh-CN" altLang="zh-CN" sz="4000"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4297441" y="1557021"/>
            <a:ext cx="2378287" cy="701887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1865">
                <a:latin typeface="宋体" panose="02010600030101010101" pitchFamily="2" charset="-122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取得心理咨询师资格证书</a:t>
            </a:r>
            <a:endParaRPr lang="zh-CN" altLang="zh-CN" sz="1865">
              <a:latin typeface="宋体" panose="02010600030101010101" pitchFamily="2" charset="-122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3142046" y="1538585"/>
            <a:ext cx="1260855" cy="70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/>
            <a:r>
              <a:rPr lang="zh-CN" altLang="zh-CN" sz="4000"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2</a:t>
            </a:r>
            <a:endParaRPr lang="zh-CN" altLang="zh-CN" sz="4000"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7737487" y="1524011"/>
            <a:ext cx="1161342" cy="70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r"/>
            <a:r>
              <a:rPr lang="zh-CN" altLang="zh-CN" sz="4000"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4</a:t>
            </a:r>
            <a:endParaRPr lang="zh-CN" altLang="zh-CN" sz="4000"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710322" y="4925050"/>
            <a:ext cx="2378287" cy="70650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1865">
                <a:latin typeface="宋体" panose="02010600030101010101" pitchFamily="2" charset="-122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取得职业规划师资格证书</a:t>
            </a:r>
            <a:endParaRPr lang="zh-CN" altLang="zh-CN" sz="1865">
              <a:latin typeface="宋体" panose="02010600030101010101" pitchFamily="2" charset="-122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902037" y="1524012"/>
            <a:ext cx="2378287" cy="652769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1865">
                <a:latin typeface="宋体" panose="02010600030101010101" pitchFamily="2" charset="-122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获得相关学科领域的学位证书</a:t>
            </a:r>
            <a:endParaRPr lang="zh-CN" altLang="zh-CN" sz="1865">
              <a:latin typeface="宋体" panose="02010600030101010101" pitchFamily="2" charset="-122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008782" y="4914890"/>
            <a:ext cx="2378287" cy="716661"/>
          </a:xfrm>
          <a:prstGeom prst="rect">
            <a:avLst/>
          </a:prstGeom>
          <a:noFill/>
        </p:spPr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1865">
                <a:latin typeface="宋体" panose="02010600030101010101" pitchFamily="2" charset="-122"/>
                <a:ea typeface="微软雅黑" panose="020B0503020204020204" pitchFamily="34" charset="-122"/>
                <a:cs typeface="+mn-ea"/>
                <a:sym typeface="宋体" panose="02010600030101010101" pitchFamily="2" charset="-122"/>
              </a:rPr>
              <a:t>取得高校教师资格证书</a:t>
            </a:r>
            <a:endParaRPr lang="zh-CN" altLang="zh-CN" sz="1865">
              <a:latin typeface="宋体" panose="02010600030101010101" pitchFamily="2" charset="-122"/>
              <a:ea typeface="微软雅黑" panose="020B0503020204020204" pitchFamily="34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33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11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2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3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5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职业资格与认证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28433" y="1905000"/>
            <a:ext cx="5933440" cy="2953597"/>
          </a:xfrm>
          <a:prstGeom prst="rect">
            <a:avLst/>
          </a:prstGeom>
        </p:spPr>
        <p:txBody>
          <a:bodyPr lIns="0" tIns="0" rIns="0" bIns="0" rtlCol="0" anchor="ctr" anchorCtr="0">
            <a:normAutofit fontScale="6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7200">
                <a:latin typeface="宋体" panose="02010600030101010101" pitchFamily="2" charset="-122"/>
                <a:ea typeface="思源黑体-超粗体 2 Heavy"/>
                <a:sym typeface="宋体" panose="02010600030101010101" pitchFamily="2" charset="-122"/>
              </a:rPr>
              <a:t>此外，教育部还规定，辅导员必须定期参加职业培训和学术交流活动，不断提高自身的职业素养和工作能力</a:t>
            </a:r>
            <a:endParaRPr lang="zh-CN" altLang="en-US" sz="7200">
              <a:latin typeface="宋体" panose="02010600030101010101" pitchFamily="2" charset="-122"/>
              <a:ea typeface="思源黑体-超粗体 2 Heavy"/>
              <a:sym typeface="宋体" panose="02010600030101010101" pitchFamily="2" charset="-122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321468" y="5061016"/>
            <a:ext cx="4815520" cy="4815520"/>
          </a:xfrm>
          <a:custGeom>
            <a:avLst/>
            <a:gdLst/>
            <a:ahLst/>
            <a:cxnLst/>
            <a:rect l="l" t="t" r="r" b="b"/>
            <a:pathLst>
              <a:path w="7223280" h="7223280">
                <a:moveTo>
                  <a:pt x="0" y="0"/>
                </a:moveTo>
                <a:lnTo>
                  <a:pt x="7223280" y="0"/>
                </a:lnTo>
                <a:lnTo>
                  <a:pt x="7223280" y="7223280"/>
                </a:lnTo>
                <a:lnTo>
                  <a:pt x="0" y="722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283437" y="-1701089"/>
            <a:ext cx="2830003" cy="2830003"/>
          </a:xfrm>
          <a:custGeom>
            <a:avLst/>
            <a:gdLst/>
            <a:ahLst/>
            <a:cxnLst/>
            <a:rect l="l" t="t" r="r" b="b"/>
            <a:pathLst>
              <a:path w="4245004" h="4245004">
                <a:moveTo>
                  <a:pt x="0" y="0"/>
                </a:moveTo>
                <a:lnTo>
                  <a:pt x="4245004" y="0"/>
                </a:lnTo>
                <a:lnTo>
                  <a:pt x="4245004" y="4245004"/>
                </a:lnTo>
                <a:lnTo>
                  <a:pt x="0" y="424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/>
            <a:stretch>
              <a:fillRect/>
            </a:stretch>
          </a:blip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9855236" y="-3682758"/>
            <a:ext cx="5649279" cy="5649279"/>
          </a:xfrm>
          <a:custGeom>
            <a:avLst/>
            <a:gdLst/>
            <a:ahLst/>
            <a:cxnLst/>
            <a:rect l="l" t="t" r="r" b="b"/>
            <a:pathLst>
              <a:path w="8473919" h="8473919">
                <a:moveTo>
                  <a:pt x="0" y="0"/>
                </a:moveTo>
                <a:lnTo>
                  <a:pt x="8473920" y="0"/>
                </a:lnTo>
                <a:lnTo>
                  <a:pt x="8473920" y="8473919"/>
                </a:lnTo>
                <a:lnTo>
                  <a:pt x="0" y="847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/>
            <a:stretch>
              <a:fillRect/>
            </a:stretch>
          </a:blipFill>
          <a:ln>
            <a:noFill/>
          </a:ln>
        </p:spPr>
      </p:sp>
      <p:sp>
        <p:nvSpPr>
          <p:cNvPr id="14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469972" y="1898344"/>
            <a:ext cx="878244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3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第3部分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工作内容与职责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工作内容与职责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9" name="New shape"/>
          <p:cNvSpPr/>
          <p:nvPr/>
        </p:nvSpPr>
        <p:spPr>
          <a:xfrm rot="5400000">
            <a:off x="1117600" y="2298700"/>
            <a:ext cx="330200" cy="330200"/>
          </a:xfrm>
          <a:prstGeom prst="triangl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New shape"/>
          <p:cNvSpPr/>
          <p:nvPr/>
        </p:nvSpPr>
        <p:spPr>
          <a:xfrm rot="5400000">
            <a:off x="1117600" y="3454400"/>
            <a:ext cx="330200" cy="330200"/>
          </a:xfrm>
          <a:prstGeom prst="triangl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New shape"/>
          <p:cNvSpPr/>
          <p:nvPr/>
        </p:nvSpPr>
        <p:spPr>
          <a:xfrm rot="5400000">
            <a:off x="1117600" y="4267200"/>
            <a:ext cx="330200" cy="330200"/>
          </a:xfrm>
          <a:prstGeom prst="triangl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New shape"/>
          <p:cNvSpPr/>
          <p:nvPr/>
        </p:nvSpPr>
        <p:spPr>
          <a:xfrm rot="5400000">
            <a:off x="1117600" y="5080000"/>
            <a:ext cx="330200" cy="330200"/>
          </a:xfrm>
          <a:prstGeom prst="triangl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467600" y="2692400"/>
            <a:ext cx="3594100" cy="26162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34" name="New shape"/>
          <p:cNvSpPr/>
          <p:nvPr/>
        </p:nvSpPr>
        <p:spPr>
          <a:xfrm>
            <a:off x="1117600" y="17399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辅导员的工作内容十分丰富，主要包括以下几个方面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New shape"/>
          <p:cNvSpPr/>
          <p:nvPr/>
        </p:nvSpPr>
        <p:spPr>
          <a:xfrm>
            <a:off x="1524000" y="2273300"/>
            <a:ext cx="5740400" cy="990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思想政治教育：引导学生树立正确的世界观、人生观和价值观，培养学生的爱国主义、集体主义和社会主义思想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6" name="New shape"/>
          <p:cNvSpPr/>
          <p:nvPr/>
        </p:nvSpPr>
        <p:spPr>
          <a:xfrm>
            <a:off x="1524000" y="34290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学业指导：帮助学生制定学习计划，提供学习方法指导，解决学习中的困难和问题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New shape"/>
          <p:cNvSpPr/>
          <p:nvPr/>
        </p:nvSpPr>
        <p:spPr>
          <a:xfrm>
            <a:off x="1524000" y="42418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生活关怀：关心学生的生活状况，提供生活指导，帮助学生解决生活中的问题和困难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New shape"/>
          <p:cNvSpPr/>
          <p:nvPr/>
        </p:nvSpPr>
        <p:spPr>
          <a:xfrm>
            <a:off x="1524000" y="5054600"/>
            <a:ext cx="57404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职业规划：为学生提供职业规划指导，帮助学生制定职业发展目标和发展计划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nimBg="1" advAuto="0"/>
      <p:bldP spid="34" grpId="5" animBg="1" advAuto="0"/>
      <p:bldP spid="35" grpId="6" animBg="1" advAuto="0"/>
      <p:bldP spid="36" grpId="7" animBg="1" advAuto="0"/>
      <p:bldP spid="37" grpId="8" animBg="1" advAuto="0"/>
      <p:bldP spid="38" grpId="9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工作内容与职责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9" name="New shape"/>
          <p:cNvSpPr/>
          <p:nvPr/>
        </p:nvSpPr>
        <p:spPr>
          <a:xfrm>
            <a:off x="1117600" y="1943100"/>
            <a:ext cx="487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1168400" y="19939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1117600" y="2794000"/>
            <a:ext cx="487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168400" y="28448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117600" y="3644900"/>
            <a:ext cx="487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1168400" y="36957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1117600" y="4495800"/>
            <a:ext cx="487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New shape"/>
          <p:cNvSpPr/>
          <p:nvPr/>
        </p:nvSpPr>
        <p:spPr>
          <a:xfrm>
            <a:off x="1168400" y="45466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New shape"/>
          <p:cNvSpPr/>
          <p:nvPr/>
        </p:nvSpPr>
        <p:spPr>
          <a:xfrm>
            <a:off x="1117600" y="5346700"/>
            <a:ext cx="4876800" cy="723900"/>
          </a:xfrm>
          <a:prstGeom prst="roundRect">
            <a:avLst>
              <a:gd name="adj" fmla="val 10526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New shape"/>
          <p:cNvSpPr/>
          <p:nvPr/>
        </p:nvSpPr>
        <p:spPr>
          <a:xfrm>
            <a:off x="1168400" y="5397500"/>
            <a:ext cx="76200" cy="6223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197600" y="2476500"/>
            <a:ext cx="4876800" cy="3048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40" name="New shape"/>
          <p:cNvSpPr/>
          <p:nvPr/>
        </p:nvSpPr>
        <p:spPr>
          <a:xfrm>
            <a:off x="1117600" y="14097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此外，辅导员还需要承担以下职责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New shape"/>
          <p:cNvSpPr/>
          <p:nvPr/>
        </p:nvSpPr>
        <p:spPr>
          <a:xfrm>
            <a:off x="1435100" y="2133600"/>
            <a:ext cx="45593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管理学生日常事务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New shape"/>
          <p:cNvSpPr/>
          <p:nvPr/>
        </p:nvSpPr>
        <p:spPr>
          <a:xfrm>
            <a:off x="1435100" y="2984500"/>
            <a:ext cx="45593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组织开展学生活动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New shape"/>
          <p:cNvSpPr/>
          <p:nvPr/>
        </p:nvSpPr>
        <p:spPr>
          <a:xfrm>
            <a:off x="1435100" y="3835400"/>
            <a:ext cx="45593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与学生家长保持沟通联系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New shape"/>
          <p:cNvSpPr/>
          <p:nvPr/>
        </p:nvSpPr>
        <p:spPr>
          <a:xfrm>
            <a:off x="1435100" y="4686300"/>
            <a:ext cx="45593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对学生进行：心理疏导和危机干预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New shape"/>
          <p:cNvSpPr/>
          <p:nvPr/>
        </p:nvSpPr>
        <p:spPr>
          <a:xfrm>
            <a:off x="1435100" y="5537200"/>
            <a:ext cx="45593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参与校园文化建设和社会实践活动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3" presetClass="entr" presetSubtype="16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3" presetClass="entr" presetSubtype="16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3" presetClass="entr" presetSubtype="16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3" presetClass="entr" presetSubtype="16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3" presetClass="entr" presetSubtype="16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3" presetClass="entr" presetSubtype="16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3" presetClass="entr" presetSubtype="16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nimBg="1" advAuto="0"/>
      <p:bldP spid="34" grpId="5" animBg="1" advAuto="0"/>
      <p:bldP spid="35" grpId="6" animBg="1" advAuto="0"/>
      <p:bldP spid="36" grpId="7" animBg="1" advAuto="0"/>
      <p:bldP spid="37" grpId="8" animBg="1" advAuto="0"/>
      <p:bldP spid="38" grpId="9" animBg="1" advAuto="0"/>
      <p:bldP spid="39" grpId="10" animBg="1" advAuto="0"/>
      <p:bldP spid="40" grpId="11" animBg="1" advAuto="0"/>
      <p:bldP spid="41" grpId="12" animBg="1" advAuto="0"/>
      <p:bldP spid="42" grpId="13" animBg="1" advAuto="0"/>
      <p:bldP spid="43" grpId="14" animBg="1" advAuto="0"/>
      <p:bldP spid="44" grpId="15" animBg="1" advAuto="0"/>
      <p:bldP spid="45" grpId="16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471153" y="1898344"/>
            <a:ext cx="875879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4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第4部分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专业能力与技能要求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专业能力与技能要求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9" name="New shape"/>
          <p:cNvSpPr/>
          <p:nvPr/>
        </p:nvSpPr>
        <p:spPr>
          <a:xfrm>
            <a:off x="1117600" y="2286000"/>
            <a:ext cx="9956800" cy="1066800"/>
          </a:xfrm>
          <a:prstGeom prst="roundRect">
            <a:avLst>
              <a:gd name="adj" fmla="val 7142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1168400" y="2336800"/>
            <a:ext cx="76200" cy="9652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1117600" y="3479800"/>
            <a:ext cx="9956800" cy="1066800"/>
          </a:xfrm>
          <a:prstGeom prst="roundRect">
            <a:avLst>
              <a:gd name="adj" fmla="val 7142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168400" y="3530600"/>
            <a:ext cx="76200" cy="9652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117600" y="4673600"/>
            <a:ext cx="9956800" cy="1066800"/>
          </a:xfrm>
          <a:prstGeom prst="roundRect">
            <a:avLst>
              <a:gd name="adj" fmla="val 7142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New shape"/>
          <p:cNvSpPr/>
          <p:nvPr/>
        </p:nvSpPr>
        <p:spPr>
          <a:xfrm>
            <a:off x="1168400" y="4724400"/>
            <a:ext cx="76200" cy="9652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New shape"/>
          <p:cNvSpPr/>
          <p:nvPr/>
        </p:nvSpPr>
        <p:spPr>
          <a:xfrm>
            <a:off x="1117600" y="17526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作为辅导员，需要具备以下专业能力和技能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6" name="New shape"/>
          <p:cNvSpPr/>
          <p:nvPr/>
        </p:nvSpPr>
        <p:spPr>
          <a:xfrm>
            <a:off x="1435100" y="2476500"/>
            <a:ext cx="96393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沟通能力：与学生进行有效沟通，了解学生的需求和问题，能够独立处理学生事务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New shape"/>
          <p:cNvSpPr/>
          <p:nvPr/>
        </p:nvSpPr>
        <p:spPr>
          <a:xfrm>
            <a:off x="1435100" y="3670300"/>
            <a:ext cx="96393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组织协调能力：能够组织和管理学生活动，协调各方面资源，推动工作的顺利开展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New shape"/>
          <p:cNvSpPr/>
          <p:nvPr/>
        </p:nvSpPr>
        <p:spPr>
          <a:xfrm>
            <a:off x="1435100" y="4864100"/>
            <a:ext cx="96393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创新能力：能够独立思考和创新工作方式方法，不断优化工作流程和提高工作效率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3" presetClass="entr" presetSubtype="16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3" presetClass="entr" presetSubtype="16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nimBg="1" advAuto="0"/>
      <p:bldP spid="34" grpId="5" animBg="1" advAuto="0"/>
      <p:bldP spid="35" grpId="6" animBg="1" advAuto="0"/>
      <p:bldP spid="36" grpId="7" animBg="1" advAuto="0"/>
      <p:bldP spid="37" grpId="8" animBg="1" advAuto="0"/>
      <p:bldP spid="38" grpId="9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51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52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53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55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专业能力与技能要求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520373" y="1361658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学习能力：能够不断学习和更新知识储备，适应不断变化的教育环境和工作环境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35" name="Oval 10"/>
          <p:cNvSpPr>
            <a:spLocks noChangeArrowheads="1"/>
          </p:cNvSpPr>
          <p:nvPr/>
        </p:nvSpPr>
        <p:spPr>
          <a:xfrm>
            <a:off x="1044839" y="1337562"/>
            <a:ext cx="407987" cy="40798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1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36" name="Oval 10"/>
          <p:cNvSpPr>
            <a:spLocks noChangeArrowheads="1"/>
          </p:cNvSpPr>
          <p:nvPr/>
        </p:nvSpPr>
        <p:spPr>
          <a:xfrm>
            <a:off x="1044839" y="2013333"/>
            <a:ext cx="407987" cy="40798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2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37" name="Oval 10"/>
          <p:cNvSpPr>
            <a:spLocks noChangeArrowheads="1"/>
          </p:cNvSpPr>
          <p:nvPr/>
        </p:nvSpPr>
        <p:spPr>
          <a:xfrm>
            <a:off x="1044839" y="2732566"/>
            <a:ext cx="407987" cy="40798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3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38" name="Oval 10"/>
          <p:cNvSpPr>
            <a:spLocks noChangeArrowheads="1"/>
          </p:cNvSpPr>
          <p:nvPr/>
        </p:nvSpPr>
        <p:spPr>
          <a:xfrm>
            <a:off x="1044839" y="3434904"/>
            <a:ext cx="407987" cy="40798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4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39" name="Oval 10"/>
          <p:cNvSpPr>
            <a:spLocks noChangeArrowheads="1"/>
          </p:cNvSpPr>
          <p:nvPr/>
        </p:nvSpPr>
        <p:spPr>
          <a:xfrm>
            <a:off x="1044839" y="4142236"/>
            <a:ext cx="407987" cy="40798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5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40" name="Oval 10"/>
          <p:cNvSpPr>
            <a:spLocks noChangeArrowheads="1"/>
          </p:cNvSpPr>
          <p:nvPr/>
        </p:nvSpPr>
        <p:spPr>
          <a:xfrm>
            <a:off x="1044839" y="4815694"/>
            <a:ext cx="407987" cy="42020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6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41" name="Oval 10"/>
          <p:cNvSpPr>
            <a:spLocks noChangeArrowheads="1"/>
          </p:cNvSpPr>
          <p:nvPr/>
        </p:nvSpPr>
        <p:spPr>
          <a:xfrm>
            <a:off x="1044839" y="5507809"/>
            <a:ext cx="407987" cy="420208"/>
          </a:xfrm>
          <a:prstGeom prst="ellipse">
            <a:avLst/>
          </a:prstGeom>
          <a:solidFill>
            <a:srgbClr val="0000FF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b="1">
                <a:solidFill>
                  <a:schemeClr val="bg2"/>
                </a:solidFill>
                <a:latin typeface="宋体" panose="02010600030101010101" pitchFamily="2" charset="-122"/>
                <a:ea typeface="+mj-ea"/>
                <a:sym typeface="宋体" panose="02010600030101010101" pitchFamily="2" charset="-122"/>
              </a:rPr>
              <a:t>7</a:t>
            </a:r>
            <a:endParaRPr lang="zh-CN" altLang="en-US" b="1">
              <a:solidFill>
                <a:schemeClr val="bg2"/>
              </a:solidFill>
              <a:latin typeface="宋体" panose="02010600030101010101" pitchFamily="2" charset="-122"/>
              <a:ea typeface="+mj-ea"/>
              <a:sym typeface="宋体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520373" y="2045333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团队合作能力：能够与同事和学生建立良好的合作关系，共同完成工作任务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20373" y="2764869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自我调节能力：能够保持良好的心态和情绪状态，应对工作中的压力和挑战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20373" y="3362137"/>
            <a:ext cx="9376428" cy="5796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领导能力：能够在一定程度上引导学生树立正确的价值观和行为准则，培养学生的领导能力和团队协作精神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20373" y="4201657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信息化技术应用能力：能够熟练应用现代信息技术手段，提高工作效率和质量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520373" y="4871895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语言文字表达能力：能够准确表达自己的思想和观点，撰写工作报告和文件材料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520373" y="5578035"/>
            <a:ext cx="9376428" cy="3356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just" eaLnBrk="1"/>
            <a:r>
              <a:rPr lang="zh-CN" altLang="zh-CN" sz="1600" b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思源黑体 CN Normal" panose="020B0400000000000000" pitchFamily="34" charset="-122"/>
                <a:sym typeface="宋体" panose="02010600030101010101" pitchFamily="2" charset="-122"/>
              </a:rPr>
              <a:t>危机处理能力：能够及时发现和处理学生的紧急事件和危机情况，保障学生安全和稳定</a:t>
            </a: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思源黑体 CN Normal" panose="020B0400000000000000" pitchFamily="34" charset="-122"/>
              <a:sym typeface="宋体" panose="02010600030101010101" pitchFamily="2" charset="-122"/>
            </a:endParaRPr>
          </a:p>
        </p:txBody>
      </p:sp>
      <p:sp>
        <p:nvSpPr>
          <p:cNvPr id="54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4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5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6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dvAuto="0"/>
      <p:bldP spid="35" grpId="1" advAuto="0"/>
      <p:bldP spid="36" grpId="2" advAuto="0"/>
      <p:bldP spid="37" grpId="3" advAuto="0"/>
      <p:bldP spid="38" grpId="4" advAuto="0"/>
      <p:bldP spid="39" grpId="5" advAuto="0"/>
      <p:bldP spid="40" grpId="6" advAuto="0"/>
      <p:bldP spid="41" grpId="7" advAuto="0"/>
      <p:bldP spid="44" grpId="8" advAuto="0"/>
      <p:bldP spid="45" grpId="9" advAuto="0"/>
      <p:bldP spid="46" grpId="10" advAuto="0"/>
      <p:bldP spid="47" grpId="11" advAuto="0"/>
      <p:bldP spid="48" grpId="12" advAuto="0"/>
      <p:bldP spid="49" grpId="13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464651" y="1898344"/>
            <a:ext cx="888885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5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第5部分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发展趋势与前景展望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发展趋势与前景展望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9" name="New shape"/>
          <p:cNvSpPr/>
          <p:nvPr/>
        </p:nvSpPr>
        <p:spPr>
          <a:xfrm>
            <a:off x="1117600" y="3136900"/>
            <a:ext cx="9956800" cy="196850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2540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New picture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" y="31369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pic>
        <p:nvPicPr>
          <p:cNvPr id="31" name="New picture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591800" y="4343400"/>
            <a:ext cx="381000" cy="762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32" name="New shape"/>
          <p:cNvSpPr/>
          <p:nvPr/>
        </p:nvSpPr>
        <p:spPr>
          <a:xfrm>
            <a:off x="1117600" y="2260600"/>
            <a:ext cx="9956800" cy="685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随着教育改革的不断深入和教育环境的不断变化，辅导员职业的发展趋势和前景展望也在不断变化。未来几年，辅导员职业将面临以下发展趋势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New shape"/>
          <p:cNvSpPr/>
          <p:nvPr/>
        </p:nvSpPr>
        <p:spPr>
          <a:xfrm>
            <a:off x="1498600" y="3263900"/>
            <a:ext cx="9194800" cy="17145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8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400" b="0">
                <a:solidFill>
                  <a:srgbClr val="000000"/>
                </a:solidFill>
                <a:latin typeface="宋体" panose="02010600030101010101" pitchFamily="2" charset="-122"/>
              </a:rPr>
              <a:t>专业化和职业化程度将不断提高：随着教育改革的深入推进和教育需求的不断变化，辅导员职业的专业化和职业化程度将不断提高。未来几年，将有越来越多的高校开始实施辅导员职业资格认证制度，提高辅导员的职业素养和工作能力。同时，辅导员的职业发展路径也将更加清晰明确，将有更多的机会参与专业培训和学术交流活动</a:t>
            </a:r>
            <a:endParaRPr sz="24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24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5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发展趋势与前景展望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688" y="1652954"/>
            <a:ext cx="8070727" cy="492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3" name="矩形 2"/>
          <p:cNvSpPr/>
          <p:nvPr/>
        </p:nvSpPr>
        <p:spPr>
          <a:xfrm>
            <a:off x="9126415" y="1652954"/>
            <a:ext cx="2009897" cy="492369"/>
          </a:xfrm>
          <a:prstGeom prst="rect">
            <a:avLst/>
          </a:prstGeom>
          <a:solidFill>
            <a:srgbClr val="0000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12" name="矩形 11"/>
          <p:cNvSpPr/>
          <p:nvPr/>
        </p:nvSpPr>
        <p:spPr>
          <a:xfrm>
            <a:off x="1185659" y="2229058"/>
            <a:ext cx="9053716" cy="737235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随着教育环境和教育需求的不断变化，辅导员的工作内容和职责将更加广泛和多样化。未来几年，辅导员将需要承担更多的工作任务和职责，包括心理健康教育、职业规划指导、社会实践指导等方面的工作。同时，辅导员也需要不断更新自己的知识储备和能力结构，以适应不断变化的工作环境和任务需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85660" y="1736689"/>
            <a:ext cx="7940754" cy="368300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工作内容和职责将更加广泛和多样化</a:t>
            </a:r>
            <a:endParaRPr lang="zh-CN" altLang="en-US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60000" y="1736689"/>
            <a:ext cx="976313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00000"/>
                </a:solidFill>
              </a14:hiddenFill>
            </a:ext>
          </a:extLst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&gt;&gt;&gt;</a:t>
            </a:r>
            <a:endParaRPr lang="zh-CN" altLang="zh-CN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55688" y="3103684"/>
            <a:ext cx="8070727" cy="492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7" name="矩形 6"/>
          <p:cNvSpPr/>
          <p:nvPr/>
        </p:nvSpPr>
        <p:spPr>
          <a:xfrm>
            <a:off x="9126415" y="3103684"/>
            <a:ext cx="2009897" cy="492369"/>
          </a:xfrm>
          <a:prstGeom prst="rect">
            <a:avLst/>
          </a:prstGeom>
          <a:solidFill>
            <a:srgbClr val="0000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15" name="矩形 14"/>
          <p:cNvSpPr/>
          <p:nvPr/>
        </p:nvSpPr>
        <p:spPr>
          <a:xfrm>
            <a:off x="1185659" y="3676858"/>
            <a:ext cx="9053716" cy="737235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随着教育改革的深入推进和教育需求的不断变化，团队合作和协同发展的趋势将更加明显。未来几年，辅导员需要与更多的同事和学生建立良好的合作关系，共同完成工作任务和发展目标。同时，辅导员也需要积极探索和创新工作方式方法，不断提高工作效率和质量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85660" y="3184489"/>
            <a:ext cx="7940754" cy="368300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团队合作和协同发展的趋势将更加明显</a:t>
            </a:r>
            <a:endParaRPr lang="zh-CN" altLang="en-US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160000" y="3184489"/>
            <a:ext cx="976313" cy="369332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&gt;&gt;&gt;</a:t>
            </a:r>
            <a:endParaRPr lang="zh-CN" altLang="zh-CN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55688" y="4554415"/>
            <a:ext cx="8070727" cy="49236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10" name="矩形 9"/>
          <p:cNvSpPr/>
          <p:nvPr/>
        </p:nvSpPr>
        <p:spPr>
          <a:xfrm>
            <a:off x="9126415" y="4554415"/>
            <a:ext cx="2009897" cy="492369"/>
          </a:xfrm>
          <a:prstGeom prst="rect">
            <a:avLst/>
          </a:prstGeom>
          <a:solidFill>
            <a:srgbClr val="0000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2pPr>
            <a:lvl3pPr marL="914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5pPr>
            <a:lvl6pPr marL="22860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6pPr>
            <a:lvl7pPr marL="27432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7pPr>
            <a:lvl8pPr marL="32004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8pPr>
            <a:lvl9pPr marL="365760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字魂36号-正文宋楷"/>
                <a:ea typeface="字魂36号-正文宋楷"/>
                <a:cs typeface="+mn-cs"/>
              </a:defRPr>
            </a:lvl9pPr>
          </a:lstStyle>
          <a:p/>
        </p:txBody>
      </p:sp>
      <p:sp>
        <p:nvSpPr>
          <p:cNvPr id="18" name="矩形 17"/>
          <p:cNvSpPr/>
          <p:nvPr/>
        </p:nvSpPr>
        <p:spPr>
          <a:xfrm>
            <a:off x="1185659" y="5126858"/>
            <a:ext cx="9053716" cy="737235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随着信息化技术的不断发展和应用普及，信息化技术手段在辅导员工作中也将发挥越来越重要的作用。未来几年，辅导员需要更加熟练地应用现代信息技术手段，提高工作效率和质量。同时，也需要积极探索和创新信息化技术手段的应用方式和方法，为学生的成长和发展提供更好的服务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85660" y="4634489"/>
            <a:ext cx="7940754" cy="368300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信息化技术手段的应用将更加普及和重要</a:t>
            </a:r>
            <a:endParaRPr lang="zh-CN" altLang="en-US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160000" y="4634489"/>
            <a:ext cx="976313" cy="369332"/>
          </a:xfrm>
          <a:prstGeom prst="rect">
            <a:avLst/>
          </a:prstGeom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b="1">
                <a:solidFill>
                  <a:schemeClr val="bg1"/>
                </a:solidFill>
                <a:latin typeface="宋体" panose="02010600030101010101" pitchFamily="2" charset="-122"/>
                <a:ea typeface="字魂59号-创粗黑" panose="00000500000000000000" pitchFamily="2" charset="-122"/>
                <a:cs typeface="+mn-ea"/>
                <a:sym typeface="宋体" panose="02010600030101010101" pitchFamily="2" charset="-122"/>
              </a:rPr>
              <a:t>&gt;&gt;&gt;</a:t>
            </a:r>
            <a:endParaRPr lang="zh-CN" altLang="zh-CN" b="1">
              <a:solidFill>
                <a:schemeClr val="bg1"/>
              </a:solidFill>
              <a:latin typeface="宋体" panose="02010600030101010101" pitchFamily="2" charset="-122"/>
              <a:ea typeface="字魂59号-创粗黑" panose="00000500000000000000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7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24"/>
          <p:cNvGrpSpPr/>
          <p:nvPr/>
        </p:nvGrpSpPr>
        <p:grpSpPr>
          <a:xfrm>
            <a:off x="2644068" y="16765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/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/>
          </p:nvSpPr>
          <p:spPr>
            <a:xfrm>
              <a:off x="2937682" y="1968815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sp>
        <p:nvSpPr>
          <p:cNvPr id="47" name="文本框 29"/>
          <p:cNvSpPr txBox="1">
            <a:spLocks noChangeArrowheads="1"/>
          </p:cNvSpPr>
          <p:nvPr/>
        </p:nvSpPr>
        <p:spPr>
          <a:xfrm>
            <a:off x="3462286" y="1898344"/>
            <a:ext cx="893614" cy="15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6</a:t>
            </a:r>
            <a:endParaRPr lang="zh-CN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/>
        </p:nvSpPr>
        <p:spPr>
          <a:xfrm>
            <a:off x="2576118" y="3212704"/>
            <a:ext cx="2759314" cy="503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第6部分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7219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职业发展与提升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16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dvAuto="0"/>
      <p:bldP spid="47" grpId="1" advAuto="0"/>
      <p:bldP spid="48" grpId="2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5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6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职业发展与提升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9" name="New shape"/>
          <p:cNvSpPr/>
          <p:nvPr/>
        </p:nvSpPr>
        <p:spPr>
          <a:xfrm>
            <a:off x="1117600" y="2540000"/>
            <a:ext cx="9956800" cy="1409700"/>
          </a:xfrm>
          <a:prstGeom prst="roundRect">
            <a:avLst>
              <a:gd name="adj" fmla="val 5405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New shape"/>
          <p:cNvSpPr/>
          <p:nvPr/>
        </p:nvSpPr>
        <p:spPr>
          <a:xfrm>
            <a:off x="1168400" y="2590800"/>
            <a:ext cx="76200" cy="13081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New shape"/>
          <p:cNvSpPr/>
          <p:nvPr/>
        </p:nvSpPr>
        <p:spPr>
          <a:xfrm>
            <a:off x="1117600" y="4076700"/>
            <a:ext cx="9956800" cy="1409700"/>
          </a:xfrm>
          <a:prstGeom prst="roundRect">
            <a:avLst>
              <a:gd name="adj" fmla="val 5405"/>
            </a:avLst>
          </a:prstGeom>
          <a:gradFill>
            <a:gsLst>
              <a:gs pos="100000">
                <a:srgbClr val="F2F2F2">
                  <a:alpha val="88235"/>
                </a:srgbClr>
              </a:gs>
              <a:gs pos="0">
                <a:srgbClr val="F2F2F2">
                  <a:alpha val="9804"/>
                </a:srgbClr>
              </a:gs>
            </a:gsLst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New shape"/>
          <p:cNvSpPr/>
          <p:nvPr/>
        </p:nvSpPr>
        <p:spPr>
          <a:xfrm>
            <a:off x="1168400" y="4127500"/>
            <a:ext cx="76200" cy="130810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New shape"/>
          <p:cNvSpPr/>
          <p:nvPr/>
        </p:nvSpPr>
        <p:spPr>
          <a:xfrm>
            <a:off x="1117600" y="2006600"/>
            <a:ext cx="9956800" cy="342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作为辅导员，为了不断提高自身的职业素养和工作能力，需要关注以下几个方面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New shape"/>
          <p:cNvSpPr/>
          <p:nvPr/>
        </p:nvSpPr>
        <p:spPr>
          <a:xfrm>
            <a:off x="1435100" y="2730500"/>
            <a:ext cx="9639300" cy="990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不断学习和更新知识储备：作为辅导员，需要不断学习新的知识和技能，以适应不断变化的教育环境和工作环境。可以通过参加职业培训、学术交流活动、研讨会等方式，提高自身的专业素养和工作能力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New shape"/>
          <p:cNvSpPr/>
          <p:nvPr/>
        </p:nvSpPr>
        <p:spPr>
          <a:xfrm>
            <a:off x="1435100" y="4267200"/>
            <a:ext cx="9639300" cy="9906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 lnSpcReduction="200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积极探索和创新工作方式方法：作为辅导员，需要不断探索和创新工作方式方法，提高工作效率和质量。可以通过参与科研项目、与同行交流经验、阅读相关文献等方式，不断创新自身的工作方式和方法</a:t>
            </a:r>
            <a:endParaRPr sz="21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nimBg="1" advAuto="0"/>
      <p:bldP spid="34" grpId="5" animBg="1" advAuto="0"/>
      <p:bldP spid="35" grpId="6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17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8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9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1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职业发展与提升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1" name="Freeform 60"/>
          <p:cNvSpPr>
            <a:spLocks noEditPoints="1"/>
          </p:cNvSpPr>
          <p:nvPr/>
        </p:nvSpPr>
        <p:spPr>
          <a:xfrm>
            <a:off x="3895886" y="3549213"/>
            <a:ext cx="459071" cy="522008"/>
          </a:xfrm>
          <a:custGeom>
            <a:avLst/>
            <a:gdLst/>
            <a:ahLst/>
            <a:cxnLst>
              <a:cxn ang="0">
                <a:pos x="74" y="118"/>
              </a:cxn>
              <a:cxn ang="0">
                <a:pos x="36" y="141"/>
              </a:cxn>
              <a:cxn ang="0">
                <a:pos x="21" y="135"/>
              </a:cxn>
              <a:cxn ang="0">
                <a:pos x="6" y="111"/>
              </a:cxn>
              <a:cxn ang="0">
                <a:pos x="10" y="97"/>
              </a:cxn>
              <a:cxn ang="0">
                <a:pos x="32" y="76"/>
              </a:cxn>
              <a:cxn ang="0">
                <a:pos x="6" y="61"/>
              </a:cxn>
              <a:cxn ang="0">
                <a:pos x="0" y="40"/>
              </a:cxn>
              <a:cxn ang="0">
                <a:pos x="10" y="19"/>
              </a:cxn>
              <a:cxn ang="0">
                <a:pos x="34" y="0"/>
              </a:cxn>
              <a:cxn ang="0">
                <a:pos x="82" y="29"/>
              </a:cxn>
              <a:cxn ang="0">
                <a:pos x="124" y="65"/>
              </a:cxn>
              <a:cxn ang="0">
                <a:pos x="114" y="86"/>
              </a:cxn>
              <a:cxn ang="0">
                <a:pos x="95" y="48"/>
              </a:cxn>
              <a:cxn ang="0">
                <a:pos x="38" y="10"/>
              </a:cxn>
              <a:cxn ang="0">
                <a:pos x="27" y="42"/>
              </a:cxn>
              <a:cxn ang="0">
                <a:pos x="59" y="55"/>
              </a:cxn>
              <a:cxn ang="0">
                <a:pos x="76" y="65"/>
              </a:cxn>
              <a:cxn ang="0">
                <a:pos x="31" y="86"/>
              </a:cxn>
              <a:cxn ang="0">
                <a:pos x="38" y="112"/>
              </a:cxn>
              <a:cxn ang="0">
                <a:pos x="80" y="91"/>
              </a:cxn>
              <a:cxn ang="0">
                <a:pos x="112" y="59"/>
              </a:cxn>
              <a:cxn ang="0">
                <a:pos x="10" y="32"/>
              </a:cxn>
              <a:cxn ang="0">
                <a:pos x="25" y="25"/>
              </a:cxn>
              <a:cxn ang="0">
                <a:pos x="15" y="21"/>
              </a:cxn>
              <a:cxn ang="0">
                <a:pos x="10" y="32"/>
              </a:cxn>
              <a:cxn ang="0">
                <a:pos x="15" y="57"/>
              </a:cxn>
              <a:cxn ang="0">
                <a:pos x="15" y="50"/>
              </a:cxn>
              <a:cxn ang="0">
                <a:pos x="38" y="57"/>
              </a:cxn>
              <a:cxn ang="0">
                <a:pos x="44" y="61"/>
              </a:cxn>
              <a:cxn ang="0">
                <a:pos x="50" y="57"/>
              </a:cxn>
              <a:cxn ang="0">
                <a:pos x="38" y="57"/>
              </a:cxn>
              <a:cxn ang="0">
                <a:pos x="48" y="71"/>
              </a:cxn>
              <a:cxn ang="0">
                <a:pos x="48" y="67"/>
              </a:cxn>
              <a:cxn ang="0">
                <a:pos x="97" y="93"/>
              </a:cxn>
              <a:cxn ang="0">
                <a:pos x="105" y="82"/>
              </a:cxn>
              <a:cxn ang="0">
                <a:pos x="10" y="107"/>
              </a:cxn>
              <a:cxn ang="0">
                <a:pos x="13" y="112"/>
              </a:cxn>
              <a:cxn ang="0">
                <a:pos x="19" y="99"/>
              </a:cxn>
              <a:cxn ang="0">
                <a:pos x="21" y="111"/>
              </a:cxn>
              <a:cxn ang="0">
                <a:pos x="29" y="109"/>
              </a:cxn>
              <a:cxn ang="0">
                <a:pos x="21" y="111"/>
              </a:cxn>
              <a:cxn ang="0">
                <a:pos x="74" y="114"/>
              </a:cxn>
              <a:cxn ang="0">
                <a:pos x="71" y="112"/>
              </a:cxn>
              <a:cxn ang="0">
                <a:pos x="38" y="133"/>
              </a:cxn>
              <a:cxn ang="0">
                <a:pos x="55" y="122"/>
              </a:cxn>
              <a:cxn ang="0">
                <a:pos x="55" y="116"/>
              </a:cxn>
              <a:cxn ang="0">
                <a:pos x="17" y="122"/>
              </a:cxn>
              <a:cxn ang="0">
                <a:pos x="23" y="118"/>
              </a:cxn>
              <a:cxn ang="0">
                <a:pos x="17" y="120"/>
              </a:cxn>
            </a:cxnLst>
            <a:rect l="0" t="0" r="r" b="b"/>
            <a:pathLst>
              <a:path w="124" h="141">
                <a:moveTo>
                  <a:pt x="109" y="93"/>
                </a:moveTo>
                <a:lnTo>
                  <a:pt x="109" y="93"/>
                </a:lnTo>
                <a:lnTo>
                  <a:pt x="93" y="107"/>
                </a:lnTo>
                <a:lnTo>
                  <a:pt x="74" y="118"/>
                </a:lnTo>
                <a:lnTo>
                  <a:pt x="74" y="118"/>
                </a:lnTo>
                <a:lnTo>
                  <a:pt x="55" y="132"/>
                </a:lnTo>
                <a:lnTo>
                  <a:pt x="46" y="137"/>
                </a:lnTo>
                <a:lnTo>
                  <a:pt x="36" y="141"/>
                </a:lnTo>
                <a:lnTo>
                  <a:pt x="36" y="141"/>
                </a:lnTo>
                <a:lnTo>
                  <a:pt x="29" y="141"/>
                </a:lnTo>
                <a:lnTo>
                  <a:pt x="29" y="141"/>
                </a:lnTo>
                <a:lnTo>
                  <a:pt x="21" y="135"/>
                </a:lnTo>
                <a:lnTo>
                  <a:pt x="13" y="126"/>
                </a:lnTo>
                <a:lnTo>
                  <a:pt x="13" y="126"/>
                </a:lnTo>
                <a:lnTo>
                  <a:pt x="8" y="116"/>
                </a:lnTo>
                <a:lnTo>
                  <a:pt x="6" y="111"/>
                </a:lnTo>
                <a:lnTo>
                  <a:pt x="4" y="105"/>
                </a:lnTo>
                <a:lnTo>
                  <a:pt x="4" y="105"/>
                </a:lnTo>
                <a:lnTo>
                  <a:pt x="6" y="101"/>
                </a:lnTo>
                <a:lnTo>
                  <a:pt x="10" y="97"/>
                </a:lnTo>
                <a:lnTo>
                  <a:pt x="17" y="88"/>
                </a:lnTo>
                <a:lnTo>
                  <a:pt x="17" y="88"/>
                </a:lnTo>
                <a:lnTo>
                  <a:pt x="27" y="82"/>
                </a:lnTo>
                <a:lnTo>
                  <a:pt x="32" y="76"/>
                </a:lnTo>
                <a:lnTo>
                  <a:pt x="32" y="76"/>
                </a:lnTo>
                <a:lnTo>
                  <a:pt x="25" y="71"/>
                </a:lnTo>
                <a:lnTo>
                  <a:pt x="15" y="67"/>
                </a:lnTo>
                <a:lnTo>
                  <a:pt x="6" y="61"/>
                </a:lnTo>
                <a:lnTo>
                  <a:pt x="2" y="59"/>
                </a:lnTo>
                <a:lnTo>
                  <a:pt x="0" y="55"/>
                </a:lnTo>
                <a:lnTo>
                  <a:pt x="0" y="55"/>
                </a:lnTo>
                <a:lnTo>
                  <a:pt x="0" y="40"/>
                </a:lnTo>
                <a:lnTo>
                  <a:pt x="2" y="32"/>
                </a:lnTo>
                <a:lnTo>
                  <a:pt x="4" y="27"/>
                </a:lnTo>
                <a:lnTo>
                  <a:pt x="4" y="27"/>
                </a:lnTo>
                <a:lnTo>
                  <a:pt x="10" y="19"/>
                </a:lnTo>
                <a:lnTo>
                  <a:pt x="19" y="11"/>
                </a:lnTo>
                <a:lnTo>
                  <a:pt x="27" y="8"/>
                </a:lnTo>
                <a:lnTo>
                  <a:pt x="34" y="0"/>
                </a:lnTo>
                <a:lnTo>
                  <a:pt x="34" y="0"/>
                </a:lnTo>
                <a:lnTo>
                  <a:pt x="44" y="4"/>
                </a:lnTo>
                <a:lnTo>
                  <a:pt x="57" y="11"/>
                </a:lnTo>
                <a:lnTo>
                  <a:pt x="82" y="29"/>
                </a:lnTo>
                <a:lnTo>
                  <a:pt x="82" y="29"/>
                </a:lnTo>
                <a:lnTo>
                  <a:pt x="105" y="46"/>
                </a:lnTo>
                <a:lnTo>
                  <a:pt x="118" y="57"/>
                </a:lnTo>
                <a:lnTo>
                  <a:pt x="122" y="61"/>
                </a:lnTo>
                <a:lnTo>
                  <a:pt x="124" y="65"/>
                </a:lnTo>
                <a:lnTo>
                  <a:pt x="124" y="65"/>
                </a:lnTo>
                <a:lnTo>
                  <a:pt x="122" y="72"/>
                </a:lnTo>
                <a:lnTo>
                  <a:pt x="118" y="78"/>
                </a:lnTo>
                <a:lnTo>
                  <a:pt x="114" y="86"/>
                </a:lnTo>
                <a:lnTo>
                  <a:pt x="109" y="93"/>
                </a:lnTo>
                <a:lnTo>
                  <a:pt x="109" y="93"/>
                </a:lnTo>
                <a:close/>
                <a:moveTo>
                  <a:pt x="95" y="48"/>
                </a:moveTo>
                <a:lnTo>
                  <a:pt x="95" y="48"/>
                </a:lnTo>
                <a:lnTo>
                  <a:pt x="69" y="27"/>
                </a:lnTo>
                <a:lnTo>
                  <a:pt x="53" y="17"/>
                </a:lnTo>
                <a:lnTo>
                  <a:pt x="38" y="10"/>
                </a:lnTo>
                <a:lnTo>
                  <a:pt x="38" y="10"/>
                </a:lnTo>
                <a:lnTo>
                  <a:pt x="32" y="15"/>
                </a:lnTo>
                <a:lnTo>
                  <a:pt x="29" y="25"/>
                </a:lnTo>
                <a:lnTo>
                  <a:pt x="27" y="32"/>
                </a:lnTo>
                <a:lnTo>
                  <a:pt x="27" y="42"/>
                </a:lnTo>
                <a:lnTo>
                  <a:pt x="27" y="42"/>
                </a:lnTo>
                <a:lnTo>
                  <a:pt x="44" y="50"/>
                </a:lnTo>
                <a:lnTo>
                  <a:pt x="59" y="55"/>
                </a:lnTo>
                <a:lnTo>
                  <a:pt x="59" y="55"/>
                </a:lnTo>
                <a:lnTo>
                  <a:pt x="69" y="59"/>
                </a:lnTo>
                <a:lnTo>
                  <a:pt x="74" y="61"/>
                </a:lnTo>
                <a:lnTo>
                  <a:pt x="76" y="65"/>
                </a:lnTo>
                <a:lnTo>
                  <a:pt x="76" y="65"/>
                </a:lnTo>
                <a:lnTo>
                  <a:pt x="63" y="71"/>
                </a:lnTo>
                <a:lnTo>
                  <a:pt x="50" y="76"/>
                </a:lnTo>
                <a:lnTo>
                  <a:pt x="36" y="82"/>
                </a:lnTo>
                <a:lnTo>
                  <a:pt x="31" y="86"/>
                </a:lnTo>
                <a:lnTo>
                  <a:pt x="27" y="90"/>
                </a:lnTo>
                <a:lnTo>
                  <a:pt x="27" y="90"/>
                </a:lnTo>
                <a:lnTo>
                  <a:pt x="34" y="105"/>
                </a:lnTo>
                <a:lnTo>
                  <a:pt x="38" y="112"/>
                </a:lnTo>
                <a:lnTo>
                  <a:pt x="46" y="116"/>
                </a:lnTo>
                <a:lnTo>
                  <a:pt x="46" y="116"/>
                </a:lnTo>
                <a:lnTo>
                  <a:pt x="63" y="105"/>
                </a:lnTo>
                <a:lnTo>
                  <a:pt x="80" y="91"/>
                </a:lnTo>
                <a:lnTo>
                  <a:pt x="99" y="80"/>
                </a:lnTo>
                <a:lnTo>
                  <a:pt x="116" y="65"/>
                </a:lnTo>
                <a:lnTo>
                  <a:pt x="116" y="65"/>
                </a:lnTo>
                <a:lnTo>
                  <a:pt x="112" y="59"/>
                </a:lnTo>
                <a:lnTo>
                  <a:pt x="107" y="55"/>
                </a:lnTo>
                <a:lnTo>
                  <a:pt x="95" y="48"/>
                </a:lnTo>
                <a:lnTo>
                  <a:pt x="95" y="48"/>
                </a:lnTo>
                <a:close/>
                <a:moveTo>
                  <a:pt x="10" y="32"/>
                </a:moveTo>
                <a:lnTo>
                  <a:pt x="10" y="32"/>
                </a:lnTo>
                <a:lnTo>
                  <a:pt x="17" y="27"/>
                </a:lnTo>
                <a:lnTo>
                  <a:pt x="25" y="25"/>
                </a:lnTo>
                <a:lnTo>
                  <a:pt x="25" y="25"/>
                </a:lnTo>
                <a:lnTo>
                  <a:pt x="25" y="19"/>
                </a:lnTo>
                <a:lnTo>
                  <a:pt x="27" y="13"/>
                </a:lnTo>
                <a:lnTo>
                  <a:pt x="27" y="13"/>
                </a:lnTo>
                <a:lnTo>
                  <a:pt x="15" y="21"/>
                </a:lnTo>
                <a:lnTo>
                  <a:pt x="11" y="27"/>
                </a:lnTo>
                <a:lnTo>
                  <a:pt x="10" y="29"/>
                </a:lnTo>
                <a:lnTo>
                  <a:pt x="10" y="32"/>
                </a:lnTo>
                <a:lnTo>
                  <a:pt x="10" y="32"/>
                </a:lnTo>
                <a:close/>
                <a:moveTo>
                  <a:pt x="6" y="57"/>
                </a:moveTo>
                <a:lnTo>
                  <a:pt x="6" y="57"/>
                </a:lnTo>
                <a:lnTo>
                  <a:pt x="11" y="59"/>
                </a:lnTo>
                <a:lnTo>
                  <a:pt x="15" y="57"/>
                </a:lnTo>
                <a:lnTo>
                  <a:pt x="25" y="51"/>
                </a:lnTo>
                <a:lnTo>
                  <a:pt x="25" y="51"/>
                </a:lnTo>
                <a:lnTo>
                  <a:pt x="19" y="50"/>
                </a:lnTo>
                <a:lnTo>
                  <a:pt x="15" y="50"/>
                </a:lnTo>
                <a:lnTo>
                  <a:pt x="10" y="53"/>
                </a:lnTo>
                <a:lnTo>
                  <a:pt x="6" y="57"/>
                </a:lnTo>
                <a:lnTo>
                  <a:pt x="6" y="57"/>
                </a:lnTo>
                <a:close/>
                <a:moveTo>
                  <a:pt x="38" y="57"/>
                </a:moveTo>
                <a:lnTo>
                  <a:pt x="38" y="57"/>
                </a:lnTo>
                <a:lnTo>
                  <a:pt x="42" y="57"/>
                </a:lnTo>
                <a:lnTo>
                  <a:pt x="42" y="57"/>
                </a:lnTo>
                <a:lnTo>
                  <a:pt x="44" y="61"/>
                </a:lnTo>
                <a:lnTo>
                  <a:pt x="44" y="61"/>
                </a:lnTo>
                <a:lnTo>
                  <a:pt x="48" y="61"/>
                </a:lnTo>
                <a:lnTo>
                  <a:pt x="48" y="59"/>
                </a:lnTo>
                <a:lnTo>
                  <a:pt x="50" y="57"/>
                </a:lnTo>
                <a:lnTo>
                  <a:pt x="50" y="57"/>
                </a:lnTo>
                <a:lnTo>
                  <a:pt x="44" y="55"/>
                </a:lnTo>
                <a:lnTo>
                  <a:pt x="40" y="55"/>
                </a:lnTo>
                <a:lnTo>
                  <a:pt x="38" y="57"/>
                </a:lnTo>
                <a:lnTo>
                  <a:pt x="38" y="57"/>
                </a:lnTo>
                <a:close/>
                <a:moveTo>
                  <a:pt x="44" y="71"/>
                </a:moveTo>
                <a:lnTo>
                  <a:pt x="44" y="71"/>
                </a:lnTo>
                <a:lnTo>
                  <a:pt x="48" y="71"/>
                </a:lnTo>
                <a:lnTo>
                  <a:pt x="53" y="69"/>
                </a:lnTo>
                <a:lnTo>
                  <a:pt x="53" y="69"/>
                </a:lnTo>
                <a:lnTo>
                  <a:pt x="51" y="67"/>
                </a:lnTo>
                <a:lnTo>
                  <a:pt x="48" y="67"/>
                </a:lnTo>
                <a:lnTo>
                  <a:pt x="44" y="71"/>
                </a:lnTo>
                <a:lnTo>
                  <a:pt x="44" y="71"/>
                </a:lnTo>
                <a:close/>
                <a:moveTo>
                  <a:pt x="97" y="93"/>
                </a:moveTo>
                <a:lnTo>
                  <a:pt x="97" y="93"/>
                </a:lnTo>
                <a:lnTo>
                  <a:pt x="103" y="88"/>
                </a:lnTo>
                <a:lnTo>
                  <a:pt x="105" y="84"/>
                </a:lnTo>
                <a:lnTo>
                  <a:pt x="105" y="82"/>
                </a:lnTo>
                <a:lnTo>
                  <a:pt x="105" y="82"/>
                </a:lnTo>
                <a:lnTo>
                  <a:pt x="101" y="88"/>
                </a:lnTo>
                <a:lnTo>
                  <a:pt x="97" y="93"/>
                </a:lnTo>
                <a:lnTo>
                  <a:pt x="97" y="93"/>
                </a:lnTo>
                <a:close/>
                <a:moveTo>
                  <a:pt x="10" y="107"/>
                </a:moveTo>
                <a:lnTo>
                  <a:pt x="10" y="107"/>
                </a:lnTo>
                <a:lnTo>
                  <a:pt x="11" y="111"/>
                </a:lnTo>
                <a:lnTo>
                  <a:pt x="13" y="112"/>
                </a:lnTo>
                <a:lnTo>
                  <a:pt x="13" y="112"/>
                </a:lnTo>
                <a:lnTo>
                  <a:pt x="17" y="105"/>
                </a:lnTo>
                <a:lnTo>
                  <a:pt x="19" y="101"/>
                </a:lnTo>
                <a:lnTo>
                  <a:pt x="19" y="99"/>
                </a:lnTo>
                <a:lnTo>
                  <a:pt x="19" y="99"/>
                </a:lnTo>
                <a:lnTo>
                  <a:pt x="15" y="103"/>
                </a:lnTo>
                <a:lnTo>
                  <a:pt x="10" y="107"/>
                </a:lnTo>
                <a:lnTo>
                  <a:pt x="10" y="107"/>
                </a:lnTo>
                <a:close/>
                <a:moveTo>
                  <a:pt x="21" y="111"/>
                </a:moveTo>
                <a:lnTo>
                  <a:pt x="21" y="111"/>
                </a:lnTo>
                <a:lnTo>
                  <a:pt x="25" y="109"/>
                </a:lnTo>
                <a:lnTo>
                  <a:pt x="29" y="109"/>
                </a:lnTo>
                <a:lnTo>
                  <a:pt x="29" y="109"/>
                </a:lnTo>
                <a:lnTo>
                  <a:pt x="27" y="105"/>
                </a:lnTo>
                <a:lnTo>
                  <a:pt x="25" y="103"/>
                </a:lnTo>
                <a:lnTo>
                  <a:pt x="25" y="103"/>
                </a:lnTo>
                <a:lnTo>
                  <a:pt x="21" y="111"/>
                </a:lnTo>
                <a:lnTo>
                  <a:pt x="21" y="111"/>
                </a:lnTo>
                <a:close/>
                <a:moveTo>
                  <a:pt x="69" y="116"/>
                </a:moveTo>
                <a:lnTo>
                  <a:pt x="69" y="116"/>
                </a:lnTo>
                <a:lnTo>
                  <a:pt x="74" y="114"/>
                </a:lnTo>
                <a:lnTo>
                  <a:pt x="76" y="111"/>
                </a:lnTo>
                <a:lnTo>
                  <a:pt x="76" y="107"/>
                </a:lnTo>
                <a:lnTo>
                  <a:pt x="76" y="107"/>
                </a:lnTo>
                <a:lnTo>
                  <a:pt x="71" y="112"/>
                </a:lnTo>
                <a:lnTo>
                  <a:pt x="69" y="114"/>
                </a:lnTo>
                <a:lnTo>
                  <a:pt x="69" y="116"/>
                </a:lnTo>
                <a:lnTo>
                  <a:pt x="69" y="116"/>
                </a:lnTo>
                <a:close/>
                <a:moveTo>
                  <a:pt x="38" y="133"/>
                </a:moveTo>
                <a:lnTo>
                  <a:pt x="38" y="133"/>
                </a:lnTo>
                <a:lnTo>
                  <a:pt x="55" y="126"/>
                </a:lnTo>
                <a:lnTo>
                  <a:pt x="55" y="126"/>
                </a:lnTo>
                <a:lnTo>
                  <a:pt x="55" y="122"/>
                </a:lnTo>
                <a:lnTo>
                  <a:pt x="55" y="120"/>
                </a:lnTo>
                <a:lnTo>
                  <a:pt x="57" y="118"/>
                </a:lnTo>
                <a:lnTo>
                  <a:pt x="55" y="116"/>
                </a:lnTo>
                <a:lnTo>
                  <a:pt x="55" y="116"/>
                </a:lnTo>
                <a:lnTo>
                  <a:pt x="46" y="124"/>
                </a:lnTo>
                <a:lnTo>
                  <a:pt x="38" y="133"/>
                </a:lnTo>
                <a:lnTo>
                  <a:pt x="38" y="133"/>
                </a:lnTo>
                <a:close/>
                <a:moveTo>
                  <a:pt x="17" y="122"/>
                </a:moveTo>
                <a:lnTo>
                  <a:pt x="17" y="122"/>
                </a:lnTo>
                <a:lnTo>
                  <a:pt x="19" y="122"/>
                </a:lnTo>
                <a:lnTo>
                  <a:pt x="21" y="122"/>
                </a:lnTo>
                <a:lnTo>
                  <a:pt x="23" y="118"/>
                </a:lnTo>
                <a:lnTo>
                  <a:pt x="21" y="116"/>
                </a:lnTo>
                <a:lnTo>
                  <a:pt x="21" y="116"/>
                </a:lnTo>
                <a:lnTo>
                  <a:pt x="19" y="120"/>
                </a:lnTo>
                <a:lnTo>
                  <a:pt x="17" y="120"/>
                </a:lnTo>
                <a:lnTo>
                  <a:pt x="17" y="122"/>
                </a:lnTo>
                <a:lnTo>
                  <a:pt x="17" y="122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2" name="Freeform 60"/>
          <p:cNvSpPr>
            <a:spLocks noEditPoints="1"/>
          </p:cNvSpPr>
          <p:nvPr/>
        </p:nvSpPr>
        <p:spPr>
          <a:xfrm>
            <a:off x="7690887" y="3480866"/>
            <a:ext cx="459071" cy="522008"/>
          </a:xfrm>
          <a:custGeom>
            <a:avLst/>
            <a:gdLst/>
            <a:ahLst/>
            <a:cxnLst>
              <a:cxn ang="0">
                <a:pos x="74" y="118"/>
              </a:cxn>
              <a:cxn ang="0">
                <a:pos x="36" y="141"/>
              </a:cxn>
              <a:cxn ang="0">
                <a:pos x="21" y="135"/>
              </a:cxn>
              <a:cxn ang="0">
                <a:pos x="6" y="111"/>
              </a:cxn>
              <a:cxn ang="0">
                <a:pos x="10" y="97"/>
              </a:cxn>
              <a:cxn ang="0">
                <a:pos x="32" y="76"/>
              </a:cxn>
              <a:cxn ang="0">
                <a:pos x="6" y="61"/>
              </a:cxn>
              <a:cxn ang="0">
                <a:pos x="0" y="40"/>
              </a:cxn>
              <a:cxn ang="0">
                <a:pos x="10" y="19"/>
              </a:cxn>
              <a:cxn ang="0">
                <a:pos x="34" y="0"/>
              </a:cxn>
              <a:cxn ang="0">
                <a:pos x="82" y="29"/>
              </a:cxn>
              <a:cxn ang="0">
                <a:pos x="124" y="65"/>
              </a:cxn>
              <a:cxn ang="0">
                <a:pos x="114" y="86"/>
              </a:cxn>
              <a:cxn ang="0">
                <a:pos x="95" y="48"/>
              </a:cxn>
              <a:cxn ang="0">
                <a:pos x="38" y="10"/>
              </a:cxn>
              <a:cxn ang="0">
                <a:pos x="27" y="42"/>
              </a:cxn>
              <a:cxn ang="0">
                <a:pos x="59" y="55"/>
              </a:cxn>
              <a:cxn ang="0">
                <a:pos x="76" y="65"/>
              </a:cxn>
              <a:cxn ang="0">
                <a:pos x="31" y="86"/>
              </a:cxn>
              <a:cxn ang="0">
                <a:pos x="38" y="112"/>
              </a:cxn>
              <a:cxn ang="0">
                <a:pos x="80" y="91"/>
              </a:cxn>
              <a:cxn ang="0">
                <a:pos x="112" y="59"/>
              </a:cxn>
              <a:cxn ang="0">
                <a:pos x="10" y="32"/>
              </a:cxn>
              <a:cxn ang="0">
                <a:pos x="25" y="25"/>
              </a:cxn>
              <a:cxn ang="0">
                <a:pos x="15" y="21"/>
              </a:cxn>
              <a:cxn ang="0">
                <a:pos x="10" y="32"/>
              </a:cxn>
              <a:cxn ang="0">
                <a:pos x="15" y="57"/>
              </a:cxn>
              <a:cxn ang="0">
                <a:pos x="15" y="50"/>
              </a:cxn>
              <a:cxn ang="0">
                <a:pos x="38" y="57"/>
              </a:cxn>
              <a:cxn ang="0">
                <a:pos x="44" y="61"/>
              </a:cxn>
              <a:cxn ang="0">
                <a:pos x="50" y="57"/>
              </a:cxn>
              <a:cxn ang="0">
                <a:pos x="38" y="57"/>
              </a:cxn>
              <a:cxn ang="0">
                <a:pos x="48" y="71"/>
              </a:cxn>
              <a:cxn ang="0">
                <a:pos x="48" y="67"/>
              </a:cxn>
              <a:cxn ang="0">
                <a:pos x="97" y="93"/>
              </a:cxn>
              <a:cxn ang="0">
                <a:pos x="105" y="82"/>
              </a:cxn>
              <a:cxn ang="0">
                <a:pos x="10" y="107"/>
              </a:cxn>
              <a:cxn ang="0">
                <a:pos x="13" y="112"/>
              </a:cxn>
              <a:cxn ang="0">
                <a:pos x="19" y="99"/>
              </a:cxn>
              <a:cxn ang="0">
                <a:pos x="21" y="111"/>
              </a:cxn>
              <a:cxn ang="0">
                <a:pos x="29" y="109"/>
              </a:cxn>
              <a:cxn ang="0">
                <a:pos x="21" y="111"/>
              </a:cxn>
              <a:cxn ang="0">
                <a:pos x="74" y="114"/>
              </a:cxn>
              <a:cxn ang="0">
                <a:pos x="71" y="112"/>
              </a:cxn>
              <a:cxn ang="0">
                <a:pos x="38" y="133"/>
              </a:cxn>
              <a:cxn ang="0">
                <a:pos x="55" y="122"/>
              </a:cxn>
              <a:cxn ang="0">
                <a:pos x="55" y="116"/>
              </a:cxn>
              <a:cxn ang="0">
                <a:pos x="17" y="122"/>
              </a:cxn>
              <a:cxn ang="0">
                <a:pos x="23" y="118"/>
              </a:cxn>
              <a:cxn ang="0">
                <a:pos x="17" y="120"/>
              </a:cxn>
            </a:cxnLst>
            <a:rect l="0" t="0" r="r" b="b"/>
            <a:pathLst>
              <a:path w="124" h="141">
                <a:moveTo>
                  <a:pt x="109" y="93"/>
                </a:moveTo>
                <a:lnTo>
                  <a:pt x="109" y="93"/>
                </a:lnTo>
                <a:lnTo>
                  <a:pt x="93" y="107"/>
                </a:lnTo>
                <a:lnTo>
                  <a:pt x="74" y="118"/>
                </a:lnTo>
                <a:lnTo>
                  <a:pt x="74" y="118"/>
                </a:lnTo>
                <a:lnTo>
                  <a:pt x="55" y="132"/>
                </a:lnTo>
                <a:lnTo>
                  <a:pt x="46" y="137"/>
                </a:lnTo>
                <a:lnTo>
                  <a:pt x="36" y="141"/>
                </a:lnTo>
                <a:lnTo>
                  <a:pt x="36" y="141"/>
                </a:lnTo>
                <a:lnTo>
                  <a:pt x="29" y="141"/>
                </a:lnTo>
                <a:lnTo>
                  <a:pt x="29" y="141"/>
                </a:lnTo>
                <a:lnTo>
                  <a:pt x="21" y="135"/>
                </a:lnTo>
                <a:lnTo>
                  <a:pt x="13" y="126"/>
                </a:lnTo>
                <a:lnTo>
                  <a:pt x="13" y="126"/>
                </a:lnTo>
                <a:lnTo>
                  <a:pt x="8" y="116"/>
                </a:lnTo>
                <a:lnTo>
                  <a:pt x="6" y="111"/>
                </a:lnTo>
                <a:lnTo>
                  <a:pt x="4" y="105"/>
                </a:lnTo>
                <a:lnTo>
                  <a:pt x="4" y="105"/>
                </a:lnTo>
                <a:lnTo>
                  <a:pt x="6" y="101"/>
                </a:lnTo>
                <a:lnTo>
                  <a:pt x="10" y="97"/>
                </a:lnTo>
                <a:lnTo>
                  <a:pt x="17" y="88"/>
                </a:lnTo>
                <a:lnTo>
                  <a:pt x="17" y="88"/>
                </a:lnTo>
                <a:lnTo>
                  <a:pt x="27" y="82"/>
                </a:lnTo>
                <a:lnTo>
                  <a:pt x="32" y="76"/>
                </a:lnTo>
                <a:lnTo>
                  <a:pt x="32" y="76"/>
                </a:lnTo>
                <a:lnTo>
                  <a:pt x="25" y="71"/>
                </a:lnTo>
                <a:lnTo>
                  <a:pt x="15" y="67"/>
                </a:lnTo>
                <a:lnTo>
                  <a:pt x="6" y="61"/>
                </a:lnTo>
                <a:lnTo>
                  <a:pt x="2" y="59"/>
                </a:lnTo>
                <a:lnTo>
                  <a:pt x="0" y="55"/>
                </a:lnTo>
                <a:lnTo>
                  <a:pt x="0" y="55"/>
                </a:lnTo>
                <a:lnTo>
                  <a:pt x="0" y="40"/>
                </a:lnTo>
                <a:lnTo>
                  <a:pt x="2" y="32"/>
                </a:lnTo>
                <a:lnTo>
                  <a:pt x="4" y="27"/>
                </a:lnTo>
                <a:lnTo>
                  <a:pt x="4" y="27"/>
                </a:lnTo>
                <a:lnTo>
                  <a:pt x="10" y="19"/>
                </a:lnTo>
                <a:lnTo>
                  <a:pt x="19" y="11"/>
                </a:lnTo>
                <a:lnTo>
                  <a:pt x="27" y="8"/>
                </a:lnTo>
                <a:lnTo>
                  <a:pt x="34" y="0"/>
                </a:lnTo>
                <a:lnTo>
                  <a:pt x="34" y="0"/>
                </a:lnTo>
                <a:lnTo>
                  <a:pt x="44" y="4"/>
                </a:lnTo>
                <a:lnTo>
                  <a:pt x="57" y="11"/>
                </a:lnTo>
                <a:lnTo>
                  <a:pt x="82" y="29"/>
                </a:lnTo>
                <a:lnTo>
                  <a:pt x="82" y="29"/>
                </a:lnTo>
                <a:lnTo>
                  <a:pt x="105" y="46"/>
                </a:lnTo>
                <a:lnTo>
                  <a:pt x="118" y="57"/>
                </a:lnTo>
                <a:lnTo>
                  <a:pt x="122" y="61"/>
                </a:lnTo>
                <a:lnTo>
                  <a:pt x="124" y="65"/>
                </a:lnTo>
                <a:lnTo>
                  <a:pt x="124" y="65"/>
                </a:lnTo>
                <a:lnTo>
                  <a:pt x="122" y="72"/>
                </a:lnTo>
                <a:lnTo>
                  <a:pt x="118" y="78"/>
                </a:lnTo>
                <a:lnTo>
                  <a:pt x="114" y="86"/>
                </a:lnTo>
                <a:lnTo>
                  <a:pt x="109" y="93"/>
                </a:lnTo>
                <a:lnTo>
                  <a:pt x="109" y="93"/>
                </a:lnTo>
                <a:close/>
                <a:moveTo>
                  <a:pt x="95" y="48"/>
                </a:moveTo>
                <a:lnTo>
                  <a:pt x="95" y="48"/>
                </a:lnTo>
                <a:lnTo>
                  <a:pt x="69" y="27"/>
                </a:lnTo>
                <a:lnTo>
                  <a:pt x="53" y="17"/>
                </a:lnTo>
                <a:lnTo>
                  <a:pt x="38" y="10"/>
                </a:lnTo>
                <a:lnTo>
                  <a:pt x="38" y="10"/>
                </a:lnTo>
                <a:lnTo>
                  <a:pt x="32" y="15"/>
                </a:lnTo>
                <a:lnTo>
                  <a:pt x="29" y="25"/>
                </a:lnTo>
                <a:lnTo>
                  <a:pt x="27" y="32"/>
                </a:lnTo>
                <a:lnTo>
                  <a:pt x="27" y="42"/>
                </a:lnTo>
                <a:lnTo>
                  <a:pt x="27" y="42"/>
                </a:lnTo>
                <a:lnTo>
                  <a:pt x="44" y="50"/>
                </a:lnTo>
                <a:lnTo>
                  <a:pt x="59" y="55"/>
                </a:lnTo>
                <a:lnTo>
                  <a:pt x="59" y="55"/>
                </a:lnTo>
                <a:lnTo>
                  <a:pt x="69" y="59"/>
                </a:lnTo>
                <a:lnTo>
                  <a:pt x="74" y="61"/>
                </a:lnTo>
                <a:lnTo>
                  <a:pt x="76" y="65"/>
                </a:lnTo>
                <a:lnTo>
                  <a:pt x="76" y="65"/>
                </a:lnTo>
                <a:lnTo>
                  <a:pt x="63" y="71"/>
                </a:lnTo>
                <a:lnTo>
                  <a:pt x="50" y="76"/>
                </a:lnTo>
                <a:lnTo>
                  <a:pt x="36" y="82"/>
                </a:lnTo>
                <a:lnTo>
                  <a:pt x="31" y="86"/>
                </a:lnTo>
                <a:lnTo>
                  <a:pt x="27" y="90"/>
                </a:lnTo>
                <a:lnTo>
                  <a:pt x="27" y="90"/>
                </a:lnTo>
                <a:lnTo>
                  <a:pt x="34" y="105"/>
                </a:lnTo>
                <a:lnTo>
                  <a:pt x="38" y="112"/>
                </a:lnTo>
                <a:lnTo>
                  <a:pt x="46" y="116"/>
                </a:lnTo>
                <a:lnTo>
                  <a:pt x="46" y="116"/>
                </a:lnTo>
                <a:lnTo>
                  <a:pt x="63" y="105"/>
                </a:lnTo>
                <a:lnTo>
                  <a:pt x="80" y="91"/>
                </a:lnTo>
                <a:lnTo>
                  <a:pt x="99" y="80"/>
                </a:lnTo>
                <a:lnTo>
                  <a:pt x="116" y="65"/>
                </a:lnTo>
                <a:lnTo>
                  <a:pt x="116" y="65"/>
                </a:lnTo>
                <a:lnTo>
                  <a:pt x="112" y="59"/>
                </a:lnTo>
                <a:lnTo>
                  <a:pt x="107" y="55"/>
                </a:lnTo>
                <a:lnTo>
                  <a:pt x="95" y="48"/>
                </a:lnTo>
                <a:lnTo>
                  <a:pt x="95" y="48"/>
                </a:lnTo>
                <a:close/>
                <a:moveTo>
                  <a:pt x="10" y="32"/>
                </a:moveTo>
                <a:lnTo>
                  <a:pt x="10" y="32"/>
                </a:lnTo>
                <a:lnTo>
                  <a:pt x="17" y="27"/>
                </a:lnTo>
                <a:lnTo>
                  <a:pt x="25" y="25"/>
                </a:lnTo>
                <a:lnTo>
                  <a:pt x="25" y="25"/>
                </a:lnTo>
                <a:lnTo>
                  <a:pt x="25" y="19"/>
                </a:lnTo>
                <a:lnTo>
                  <a:pt x="27" y="13"/>
                </a:lnTo>
                <a:lnTo>
                  <a:pt x="27" y="13"/>
                </a:lnTo>
                <a:lnTo>
                  <a:pt x="15" y="21"/>
                </a:lnTo>
                <a:lnTo>
                  <a:pt x="11" y="27"/>
                </a:lnTo>
                <a:lnTo>
                  <a:pt x="10" y="29"/>
                </a:lnTo>
                <a:lnTo>
                  <a:pt x="10" y="32"/>
                </a:lnTo>
                <a:lnTo>
                  <a:pt x="10" y="32"/>
                </a:lnTo>
                <a:close/>
                <a:moveTo>
                  <a:pt x="6" y="57"/>
                </a:moveTo>
                <a:lnTo>
                  <a:pt x="6" y="57"/>
                </a:lnTo>
                <a:lnTo>
                  <a:pt x="11" y="59"/>
                </a:lnTo>
                <a:lnTo>
                  <a:pt x="15" y="57"/>
                </a:lnTo>
                <a:lnTo>
                  <a:pt x="25" y="51"/>
                </a:lnTo>
                <a:lnTo>
                  <a:pt x="25" y="51"/>
                </a:lnTo>
                <a:lnTo>
                  <a:pt x="19" y="50"/>
                </a:lnTo>
                <a:lnTo>
                  <a:pt x="15" y="50"/>
                </a:lnTo>
                <a:lnTo>
                  <a:pt x="10" y="53"/>
                </a:lnTo>
                <a:lnTo>
                  <a:pt x="6" y="57"/>
                </a:lnTo>
                <a:lnTo>
                  <a:pt x="6" y="57"/>
                </a:lnTo>
                <a:close/>
                <a:moveTo>
                  <a:pt x="38" y="57"/>
                </a:moveTo>
                <a:lnTo>
                  <a:pt x="38" y="57"/>
                </a:lnTo>
                <a:lnTo>
                  <a:pt x="42" y="57"/>
                </a:lnTo>
                <a:lnTo>
                  <a:pt x="42" y="57"/>
                </a:lnTo>
                <a:lnTo>
                  <a:pt x="44" y="61"/>
                </a:lnTo>
                <a:lnTo>
                  <a:pt x="44" y="61"/>
                </a:lnTo>
                <a:lnTo>
                  <a:pt x="48" y="61"/>
                </a:lnTo>
                <a:lnTo>
                  <a:pt x="48" y="59"/>
                </a:lnTo>
                <a:lnTo>
                  <a:pt x="50" y="57"/>
                </a:lnTo>
                <a:lnTo>
                  <a:pt x="50" y="57"/>
                </a:lnTo>
                <a:lnTo>
                  <a:pt x="44" y="55"/>
                </a:lnTo>
                <a:lnTo>
                  <a:pt x="40" y="55"/>
                </a:lnTo>
                <a:lnTo>
                  <a:pt x="38" y="57"/>
                </a:lnTo>
                <a:lnTo>
                  <a:pt x="38" y="57"/>
                </a:lnTo>
                <a:close/>
                <a:moveTo>
                  <a:pt x="44" y="71"/>
                </a:moveTo>
                <a:lnTo>
                  <a:pt x="44" y="71"/>
                </a:lnTo>
                <a:lnTo>
                  <a:pt x="48" y="71"/>
                </a:lnTo>
                <a:lnTo>
                  <a:pt x="53" y="69"/>
                </a:lnTo>
                <a:lnTo>
                  <a:pt x="53" y="69"/>
                </a:lnTo>
                <a:lnTo>
                  <a:pt x="51" y="67"/>
                </a:lnTo>
                <a:lnTo>
                  <a:pt x="48" y="67"/>
                </a:lnTo>
                <a:lnTo>
                  <a:pt x="44" y="71"/>
                </a:lnTo>
                <a:lnTo>
                  <a:pt x="44" y="71"/>
                </a:lnTo>
                <a:close/>
                <a:moveTo>
                  <a:pt x="97" y="93"/>
                </a:moveTo>
                <a:lnTo>
                  <a:pt x="97" y="93"/>
                </a:lnTo>
                <a:lnTo>
                  <a:pt x="103" y="88"/>
                </a:lnTo>
                <a:lnTo>
                  <a:pt x="105" y="84"/>
                </a:lnTo>
                <a:lnTo>
                  <a:pt x="105" y="82"/>
                </a:lnTo>
                <a:lnTo>
                  <a:pt x="105" y="82"/>
                </a:lnTo>
                <a:lnTo>
                  <a:pt x="101" y="88"/>
                </a:lnTo>
                <a:lnTo>
                  <a:pt x="97" y="93"/>
                </a:lnTo>
                <a:lnTo>
                  <a:pt x="97" y="93"/>
                </a:lnTo>
                <a:close/>
                <a:moveTo>
                  <a:pt x="10" y="107"/>
                </a:moveTo>
                <a:lnTo>
                  <a:pt x="10" y="107"/>
                </a:lnTo>
                <a:lnTo>
                  <a:pt x="11" y="111"/>
                </a:lnTo>
                <a:lnTo>
                  <a:pt x="13" y="112"/>
                </a:lnTo>
                <a:lnTo>
                  <a:pt x="13" y="112"/>
                </a:lnTo>
                <a:lnTo>
                  <a:pt x="17" y="105"/>
                </a:lnTo>
                <a:lnTo>
                  <a:pt x="19" y="101"/>
                </a:lnTo>
                <a:lnTo>
                  <a:pt x="19" y="99"/>
                </a:lnTo>
                <a:lnTo>
                  <a:pt x="19" y="99"/>
                </a:lnTo>
                <a:lnTo>
                  <a:pt x="15" y="103"/>
                </a:lnTo>
                <a:lnTo>
                  <a:pt x="10" y="107"/>
                </a:lnTo>
                <a:lnTo>
                  <a:pt x="10" y="107"/>
                </a:lnTo>
                <a:close/>
                <a:moveTo>
                  <a:pt x="21" y="111"/>
                </a:moveTo>
                <a:lnTo>
                  <a:pt x="21" y="111"/>
                </a:lnTo>
                <a:lnTo>
                  <a:pt x="25" y="109"/>
                </a:lnTo>
                <a:lnTo>
                  <a:pt x="29" y="109"/>
                </a:lnTo>
                <a:lnTo>
                  <a:pt x="29" y="109"/>
                </a:lnTo>
                <a:lnTo>
                  <a:pt x="27" y="105"/>
                </a:lnTo>
                <a:lnTo>
                  <a:pt x="25" y="103"/>
                </a:lnTo>
                <a:lnTo>
                  <a:pt x="25" y="103"/>
                </a:lnTo>
                <a:lnTo>
                  <a:pt x="21" y="111"/>
                </a:lnTo>
                <a:lnTo>
                  <a:pt x="21" y="111"/>
                </a:lnTo>
                <a:close/>
                <a:moveTo>
                  <a:pt x="69" y="116"/>
                </a:moveTo>
                <a:lnTo>
                  <a:pt x="69" y="116"/>
                </a:lnTo>
                <a:lnTo>
                  <a:pt x="74" y="114"/>
                </a:lnTo>
                <a:lnTo>
                  <a:pt x="76" y="111"/>
                </a:lnTo>
                <a:lnTo>
                  <a:pt x="76" y="107"/>
                </a:lnTo>
                <a:lnTo>
                  <a:pt x="76" y="107"/>
                </a:lnTo>
                <a:lnTo>
                  <a:pt x="71" y="112"/>
                </a:lnTo>
                <a:lnTo>
                  <a:pt x="69" y="114"/>
                </a:lnTo>
                <a:lnTo>
                  <a:pt x="69" y="116"/>
                </a:lnTo>
                <a:lnTo>
                  <a:pt x="69" y="116"/>
                </a:lnTo>
                <a:close/>
                <a:moveTo>
                  <a:pt x="38" y="133"/>
                </a:moveTo>
                <a:lnTo>
                  <a:pt x="38" y="133"/>
                </a:lnTo>
                <a:lnTo>
                  <a:pt x="55" y="126"/>
                </a:lnTo>
                <a:lnTo>
                  <a:pt x="55" y="126"/>
                </a:lnTo>
                <a:lnTo>
                  <a:pt x="55" y="122"/>
                </a:lnTo>
                <a:lnTo>
                  <a:pt x="55" y="120"/>
                </a:lnTo>
                <a:lnTo>
                  <a:pt x="57" y="118"/>
                </a:lnTo>
                <a:lnTo>
                  <a:pt x="55" y="116"/>
                </a:lnTo>
                <a:lnTo>
                  <a:pt x="55" y="116"/>
                </a:lnTo>
                <a:lnTo>
                  <a:pt x="46" y="124"/>
                </a:lnTo>
                <a:lnTo>
                  <a:pt x="38" y="133"/>
                </a:lnTo>
                <a:lnTo>
                  <a:pt x="38" y="133"/>
                </a:lnTo>
                <a:close/>
                <a:moveTo>
                  <a:pt x="17" y="122"/>
                </a:moveTo>
                <a:lnTo>
                  <a:pt x="17" y="122"/>
                </a:lnTo>
                <a:lnTo>
                  <a:pt x="19" y="122"/>
                </a:lnTo>
                <a:lnTo>
                  <a:pt x="21" y="122"/>
                </a:lnTo>
                <a:lnTo>
                  <a:pt x="23" y="118"/>
                </a:lnTo>
                <a:lnTo>
                  <a:pt x="21" y="116"/>
                </a:lnTo>
                <a:lnTo>
                  <a:pt x="21" y="116"/>
                </a:lnTo>
                <a:lnTo>
                  <a:pt x="19" y="120"/>
                </a:lnTo>
                <a:lnTo>
                  <a:pt x="17" y="120"/>
                </a:lnTo>
                <a:lnTo>
                  <a:pt x="17" y="122"/>
                </a:lnTo>
                <a:lnTo>
                  <a:pt x="17" y="122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</a:ln>
        </p:spPr>
        <p:txBody>
          <a:bodyPr vert="horz" wrap="square" lIns="90000" tIns="46800" rIns="90000" bIns="46800" numCol="1" anchor="ctr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13" name="TextBox 1"/>
          <p:cNvSpPr txBox="1"/>
          <p:nvPr/>
        </p:nvSpPr>
        <p:spPr>
          <a:xfrm>
            <a:off x="919062" y="2676525"/>
            <a:ext cx="2592070" cy="2667635"/>
          </a:xfrm>
          <a:prstGeom prst="rect">
            <a:avLst/>
          </a:prstGeom>
          <a:noFill/>
          <a:effectLst/>
        </p:spPr>
        <p:txBody>
          <a:bodyPr wrap="square" lIns="0" tIns="0" r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关注学生需求和发展：作为辅导员，需要关注学生的需求和发展，了解学生的兴趣和特长，为学生提供更好的服务和指导。可以通过与学生交流、参加学生活动、定期评估等方式，了解学生的需求和发展情况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4760177" y="2676525"/>
            <a:ext cx="2592070" cy="2667635"/>
          </a:xfrm>
          <a:prstGeom prst="rect">
            <a:avLst/>
          </a:prstGeom>
          <a:noFill/>
          <a:effectLst/>
        </p:spPr>
        <p:txBody>
          <a:bodyPr wrap="square" lIns="0" tIns="0" r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注重团队合作和协同发展：作为辅导员，需要与同事和学生建立良好的合作关系，共同完成工作任务和发展目标。可以通过参与团队建设、与同事沟通交流、参与学生组织等方式，加强团队合作和协同发展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15" name="TextBox 1"/>
          <p:cNvSpPr txBox="1"/>
          <p:nvPr/>
        </p:nvSpPr>
        <p:spPr>
          <a:xfrm>
            <a:off x="8535007" y="2676525"/>
            <a:ext cx="2592070" cy="2667635"/>
          </a:xfrm>
          <a:prstGeom prst="rect">
            <a:avLst/>
          </a:prstGeom>
          <a:noFill/>
          <a:effectLst/>
        </p:spPr>
        <p:txBody>
          <a:bodyPr wrap="square" lIns="0" tIns="0" r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关注心理健康和自我调节：作为辅导员，需要关注自身的心理健康和自我调节能力，以应对工作中的压力和挑战。可以通过参加心理健康培训、寻求专业咨询、进行自我调节等方式，保持身心健康和良好的工作状态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cs typeface="+mn-ea"/>
              <a:sym typeface="宋体" panose="02010600030101010101" pitchFamily="2" charset="-122"/>
            </a:endParaRPr>
          </a:p>
        </p:txBody>
      </p:sp>
      <p:sp>
        <p:nvSpPr>
          <p:cNvPr id="20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dvAuto="0"/>
      <p:bldP spid="12" grpId="1" advAuto="0"/>
      <p:bldP spid="13" grpId="2" advAuto="0"/>
      <p:bldP spid="14" grpId="3" advAuto="0"/>
      <p:bldP spid="15" grpId="4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36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7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8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4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7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职业发展与提升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1938628">
            <a:off x="5325144" y="1865257"/>
            <a:ext cx="1719453" cy="2042858"/>
            <a:chOff x="-508" y="-635"/>
            <a:chExt cx="3438906" cy="4085717"/>
          </a:xfrm>
        </p:grpSpPr>
        <p:sp>
          <p:nvSpPr>
            <p:cNvPr id="3" name="Freeform 3"/>
            <p:cNvSpPr/>
            <p:nvPr/>
          </p:nvSpPr>
          <p:spPr>
            <a:xfrm>
              <a:off x="-508" y="-635"/>
              <a:ext cx="3438906" cy="4085717"/>
            </a:xfrm>
            <a:custGeom>
              <a:avLst/>
              <a:gdLst/>
              <a:ahLst/>
              <a:cxnLst/>
              <a:rect l="l" t="t" r="r" b="b"/>
              <a:pathLst>
                <a:path w="3438906" h="4085717">
                  <a:moveTo>
                    <a:pt x="2737104" y="4085717"/>
                  </a:moveTo>
                  <a:lnTo>
                    <a:pt x="0" y="3543554"/>
                  </a:lnTo>
                  <a:lnTo>
                    <a:pt x="701802" y="0"/>
                  </a:lnTo>
                  <a:cubicBezTo>
                    <a:pt x="1670304" y="366268"/>
                    <a:pt x="2582672" y="546989"/>
                    <a:pt x="3438906" y="542036"/>
                  </a:cubicBezTo>
                  <a:cubicBezTo>
                    <a:pt x="2690622" y="1639443"/>
                    <a:pt x="2350643" y="2817876"/>
                    <a:pt x="2737104" y="408559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</p:grpSp>
      <p:grpSp>
        <p:nvGrpSpPr>
          <p:cNvPr id="4" name="Group 4"/>
          <p:cNvGrpSpPr/>
          <p:nvPr/>
        </p:nvGrpSpPr>
        <p:grpSpPr>
          <a:xfrm rot="-1938628">
            <a:off x="4259004" y="4840434"/>
            <a:ext cx="972312" cy="1155129"/>
            <a:chOff x="254" y="-381"/>
            <a:chExt cx="1944624" cy="2310257"/>
          </a:xfrm>
        </p:grpSpPr>
        <p:sp>
          <p:nvSpPr>
            <p:cNvPr id="5" name="Freeform 5"/>
            <p:cNvSpPr/>
            <p:nvPr/>
          </p:nvSpPr>
          <p:spPr>
            <a:xfrm>
              <a:off x="254" y="-381"/>
              <a:ext cx="1944624" cy="2310257"/>
            </a:xfrm>
            <a:custGeom>
              <a:avLst/>
              <a:gdLst/>
              <a:ahLst/>
              <a:cxnLst/>
              <a:rect l="l" t="t" r="r" b="b"/>
              <a:pathLst>
                <a:path w="1944624" h="2310257">
                  <a:moveTo>
                    <a:pt x="396875" y="2310257"/>
                  </a:moveTo>
                  <a:lnTo>
                    <a:pt x="1944624" y="2003679"/>
                  </a:lnTo>
                  <a:lnTo>
                    <a:pt x="1547749" y="0"/>
                  </a:lnTo>
                  <a:cubicBezTo>
                    <a:pt x="1000125" y="207137"/>
                    <a:pt x="484251" y="309372"/>
                    <a:pt x="0" y="306578"/>
                  </a:cubicBezTo>
                  <a:cubicBezTo>
                    <a:pt x="423164" y="927100"/>
                    <a:pt x="615315" y="1593469"/>
                    <a:pt x="396875" y="2310257"/>
                  </a:cubicBezTo>
                  <a:close/>
                </a:path>
              </a:pathLst>
            </a:custGeom>
            <a:solidFill>
              <a:srgbClr val="E4E4E4">
                <a:alpha val="6980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 rot="1938628">
            <a:off x="604847" y="1836585"/>
            <a:ext cx="932434" cy="1107821"/>
            <a:chOff x="-254" y="-254"/>
            <a:chExt cx="1864868" cy="2215642"/>
          </a:xfrm>
        </p:grpSpPr>
        <p:sp>
          <p:nvSpPr>
            <p:cNvPr id="7" name="Freeform 7"/>
            <p:cNvSpPr/>
            <p:nvPr/>
          </p:nvSpPr>
          <p:spPr>
            <a:xfrm>
              <a:off x="-254" y="-254"/>
              <a:ext cx="1864868" cy="2215642"/>
            </a:xfrm>
            <a:custGeom>
              <a:avLst/>
              <a:gdLst/>
              <a:ahLst/>
              <a:cxnLst/>
              <a:rect l="l" t="t" r="r" b="b"/>
              <a:pathLst>
                <a:path w="1864868" h="2215642">
                  <a:moveTo>
                    <a:pt x="1484376" y="2215642"/>
                  </a:moveTo>
                  <a:lnTo>
                    <a:pt x="0" y="1921637"/>
                  </a:lnTo>
                  <a:lnTo>
                    <a:pt x="380619" y="0"/>
                  </a:lnTo>
                  <a:cubicBezTo>
                    <a:pt x="905764" y="198628"/>
                    <a:pt x="1400556" y="296545"/>
                    <a:pt x="1864868" y="293878"/>
                  </a:cubicBezTo>
                  <a:cubicBezTo>
                    <a:pt x="1459103" y="889000"/>
                    <a:pt x="1274699" y="1528064"/>
                    <a:pt x="1484249" y="2215515"/>
                  </a:cubicBezTo>
                  <a:close/>
                </a:path>
              </a:pathLst>
            </a:custGeom>
            <a:solidFill>
              <a:srgbClr val="E4E4E4">
                <a:alpha val="52941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71109" y="2209833"/>
            <a:ext cx="4049807" cy="3606799"/>
            <a:chOff x="0" y="0"/>
            <a:chExt cx="6384867" cy="56864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84866" cy="5686425"/>
            </a:xfrm>
            <a:custGeom>
              <a:avLst/>
              <a:gdLst/>
              <a:ahLst/>
              <a:cxnLst/>
              <a:rect l="l" t="t" r="r" b="b"/>
              <a:pathLst>
                <a:path w="6384866" h="5686425">
                  <a:moveTo>
                    <a:pt x="0" y="402717"/>
                  </a:moveTo>
                  <a:cubicBezTo>
                    <a:pt x="0" y="180340"/>
                    <a:pt x="260158" y="0"/>
                    <a:pt x="580959" y="0"/>
                  </a:cubicBezTo>
                  <a:lnTo>
                    <a:pt x="5803908" y="0"/>
                  </a:lnTo>
                  <a:cubicBezTo>
                    <a:pt x="6124708" y="0"/>
                    <a:pt x="6384866" y="180340"/>
                    <a:pt x="6384866" y="402717"/>
                  </a:cubicBezTo>
                  <a:lnTo>
                    <a:pt x="6384866" y="5283708"/>
                  </a:lnTo>
                  <a:cubicBezTo>
                    <a:pt x="6384866" y="5506085"/>
                    <a:pt x="6124709" y="5686425"/>
                    <a:pt x="5803908" y="5686425"/>
                  </a:cubicBezTo>
                  <a:lnTo>
                    <a:pt x="580959" y="5686425"/>
                  </a:lnTo>
                  <a:cubicBezTo>
                    <a:pt x="260158" y="5686425"/>
                    <a:pt x="0" y="5506085"/>
                    <a:pt x="0" y="5283708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</p:grpSp>
      <p:grpSp>
        <p:nvGrpSpPr>
          <p:cNvPr id="22" name="Group 22"/>
          <p:cNvGrpSpPr/>
          <p:nvPr/>
        </p:nvGrpSpPr>
        <p:grpSpPr>
          <a:xfrm rot="1938628">
            <a:off x="11290352" y="4287932"/>
            <a:ext cx="561150" cy="666623"/>
            <a:chOff x="-127" y="-127"/>
            <a:chExt cx="1122299" cy="1333246"/>
          </a:xfrm>
        </p:grpSpPr>
        <p:sp>
          <p:nvSpPr>
            <p:cNvPr id="23" name="Freeform 23"/>
            <p:cNvSpPr/>
            <p:nvPr/>
          </p:nvSpPr>
          <p:spPr>
            <a:xfrm>
              <a:off x="-127" y="-127"/>
              <a:ext cx="1122299" cy="1333246"/>
            </a:xfrm>
            <a:custGeom>
              <a:avLst/>
              <a:gdLst/>
              <a:ahLst/>
              <a:cxnLst/>
              <a:rect l="l" t="t" r="r" b="b"/>
              <a:pathLst>
                <a:path w="1122299" h="1333246">
                  <a:moveTo>
                    <a:pt x="893191" y="1333246"/>
                  </a:moveTo>
                  <a:lnTo>
                    <a:pt x="0" y="1156335"/>
                  </a:lnTo>
                  <a:lnTo>
                    <a:pt x="228981" y="0"/>
                  </a:lnTo>
                  <a:cubicBezTo>
                    <a:pt x="545084" y="119507"/>
                    <a:pt x="842772" y="178435"/>
                    <a:pt x="1122299" y="176911"/>
                  </a:cubicBezTo>
                  <a:cubicBezTo>
                    <a:pt x="878078" y="535051"/>
                    <a:pt x="767080" y="919607"/>
                    <a:pt x="893191" y="1333246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</p:grpSp>
      <p:sp>
        <p:nvSpPr>
          <p:cNvPr id="26" name="AutoShape 26"/>
          <p:cNvSpPr/>
          <p:nvPr/>
        </p:nvSpPr>
        <p:spPr>
          <a:xfrm>
            <a:off x="988153" y="3121672"/>
            <a:ext cx="1627319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470716" y="2292386"/>
            <a:ext cx="1438303" cy="77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6080"/>
              </a:lnSpc>
            </a:pPr>
            <a:r>
              <a:rPr lang="zh-CN" altLang="zh-CN" sz="5065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6</a:t>
            </a:r>
            <a:endParaRPr lang="zh-CN" altLang="zh-CN" sz="5065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45955" y="3295103"/>
            <a:ext cx="3775284" cy="2286743"/>
          </a:xfrm>
          <a:prstGeom prst="rect">
            <a:avLst/>
          </a:prstGeom>
        </p:spPr>
        <p:txBody>
          <a:bodyPr lIns="0" tIns="0" rIns="0" bIns="0" rtlCol="0" anchor="ctr">
            <a:normAutofit fontScale="75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3840"/>
              </a:lnSpc>
            </a:pPr>
            <a:r>
              <a:rPr lang="zh-CN" altLang="zh-CN" sz="3200">
                <a:solidFill>
                  <a:srgbClr val="FFFFFF"/>
                </a:solidFill>
                <a:latin typeface="宋体" panose="02010600030101010101" pitchFamily="2" charset="-122"/>
                <a:ea typeface="思源黑体-粗体" panose="020B0400000000000000" charset="-122"/>
                <a:sym typeface="宋体" panose="02010600030101010101" pitchFamily="2" charset="-122"/>
              </a:rPr>
              <a:t>总之，辅导员职业是一个具有挑战性和发展潜力的职业，需要不断学习和提升自身的专业素养和工作能力</a:t>
            </a:r>
            <a:endParaRPr lang="zh-CN" altLang="zh-CN" sz="3200">
              <a:solidFill>
                <a:srgbClr val="FFFFFF"/>
              </a:solidFill>
              <a:latin typeface="宋体" panose="02010600030101010101" pitchFamily="2" charset="-122"/>
              <a:ea typeface="思源黑体-粗体" panose="020B0400000000000000" charset="-122"/>
              <a:sym typeface="宋体" panose="02010600030101010101" pitchFamily="2" charset="-122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3190181" y="2334778"/>
            <a:ext cx="835380" cy="835380"/>
          </a:xfrm>
          <a:custGeom>
            <a:avLst/>
            <a:gdLst/>
            <a:ahLst/>
            <a:cxnLst/>
            <a:rect l="l" t="t" r="r" b="b"/>
            <a:pathLst>
              <a:path w="1253070" h="1253070">
                <a:moveTo>
                  <a:pt x="0" y="0"/>
                </a:moveTo>
                <a:lnTo>
                  <a:pt x="1253070" y="0"/>
                </a:lnTo>
                <a:lnTo>
                  <a:pt x="1253070" y="1253070"/>
                </a:lnTo>
                <a:lnTo>
                  <a:pt x="0" y="1253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r="-1097" b="-1097"/>
            </a:stretch>
          </a:blip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6462295" y="2209836"/>
            <a:ext cx="4049807" cy="3606799"/>
            <a:chOff x="0" y="0"/>
            <a:chExt cx="6384867" cy="56864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84866" cy="5686425"/>
            </a:xfrm>
            <a:custGeom>
              <a:avLst/>
              <a:gdLst/>
              <a:ahLst/>
              <a:cxnLst/>
              <a:rect l="l" t="t" r="r" b="b"/>
              <a:pathLst>
                <a:path w="6384866" h="5686425">
                  <a:moveTo>
                    <a:pt x="0" y="402717"/>
                  </a:moveTo>
                  <a:cubicBezTo>
                    <a:pt x="0" y="180340"/>
                    <a:pt x="260158" y="0"/>
                    <a:pt x="580959" y="0"/>
                  </a:cubicBezTo>
                  <a:lnTo>
                    <a:pt x="5803908" y="0"/>
                  </a:lnTo>
                  <a:cubicBezTo>
                    <a:pt x="6124708" y="0"/>
                    <a:pt x="6384866" y="180340"/>
                    <a:pt x="6384866" y="402717"/>
                  </a:cubicBezTo>
                  <a:lnTo>
                    <a:pt x="6384866" y="5283708"/>
                  </a:lnTo>
                  <a:cubicBezTo>
                    <a:pt x="6384866" y="5506085"/>
                    <a:pt x="6124709" y="5686425"/>
                    <a:pt x="5803908" y="5686425"/>
                  </a:cubicBezTo>
                  <a:lnTo>
                    <a:pt x="580959" y="5686425"/>
                  </a:lnTo>
                  <a:cubicBezTo>
                    <a:pt x="260158" y="5686425"/>
                    <a:pt x="0" y="5506085"/>
                    <a:pt x="0" y="5283708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6599557" y="3295103"/>
            <a:ext cx="3775284" cy="2413001"/>
          </a:xfrm>
          <a:prstGeom prst="rect">
            <a:avLst/>
          </a:prstGeom>
        </p:spPr>
        <p:txBody>
          <a:bodyPr lIns="0" tIns="0" rIns="0" bIns="0" rtlCol="0" anchor="ctr">
            <a:normAutofit fontScale="6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3840"/>
              </a:lnSpc>
            </a:pPr>
            <a:r>
              <a:rPr lang="zh-CN" sz="3200">
                <a:solidFill>
                  <a:srgbClr val="FFFFFF"/>
                </a:solidFill>
                <a:latin typeface="宋体" panose="02010600030101010101" pitchFamily="2" charset="-122"/>
                <a:ea typeface="思源黑体-粗体" panose="020B0400000000000000" charset="-122"/>
                <a:sym typeface="宋体" panose="02010600030101010101" pitchFamily="2" charset="-122"/>
              </a:rPr>
              <a:t>通过积极参与职业培训、学术交流活动、团队合作等方式，不断提高自身的专业水平和工作能力，为学生的成长和发展提供更好的服务</a:t>
            </a:r>
            <a:endParaRPr lang="zh-CN" sz="3200">
              <a:solidFill>
                <a:srgbClr val="FFFFFF"/>
              </a:solidFill>
              <a:latin typeface="宋体" panose="02010600030101010101" pitchFamily="2" charset="-122"/>
              <a:ea typeface="思源黑体-粗体" panose="020B0400000000000000" charset="-122"/>
              <a:sym typeface="宋体" panose="02010600030101010101" pitchFamily="2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81214" y="2401809"/>
            <a:ext cx="1438303" cy="77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6080"/>
              </a:lnSpc>
            </a:pPr>
            <a:r>
              <a:rPr lang="zh-CN" sz="5065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7</a:t>
            </a:r>
            <a:endParaRPr lang="zh-CN" sz="5065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8598198" y="2393785"/>
            <a:ext cx="835380" cy="784395"/>
          </a:xfrm>
          <a:custGeom>
            <a:avLst/>
            <a:gdLst/>
            <a:ahLst/>
            <a:cxnLst/>
            <a:rect l="l" t="t" r="r" b="b"/>
            <a:pathLst>
              <a:path w="1253070" h="1176592">
                <a:moveTo>
                  <a:pt x="0" y="0"/>
                </a:moveTo>
                <a:lnTo>
                  <a:pt x="1253070" y="0"/>
                </a:lnTo>
                <a:lnTo>
                  <a:pt x="1253070" y="1176593"/>
                </a:lnTo>
                <a:lnTo>
                  <a:pt x="0" y="1176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/>
            <a:stretch>
              <a:fillRect r="-1192" b="-1192"/>
            </a:stretch>
          </a:blipFill>
          <a:ln>
            <a:noFill/>
          </a:ln>
        </p:spPr>
      </p:sp>
      <p:sp>
        <p:nvSpPr>
          <p:cNvPr id="39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" name="组合 24"/>
          <p:cNvGrpSpPr/>
          <p:nvPr/>
        </p:nvGrpSpPr>
        <p:grpSpPr>
          <a:xfrm>
            <a:off x="2711378" y="1828921"/>
            <a:ext cx="2664654" cy="2666816"/>
            <a:chOff x="2848131" y="1860029"/>
            <a:chExt cx="3807502" cy="3807502"/>
          </a:xfrm>
        </p:grpSpPr>
        <p:sp>
          <p:nvSpPr>
            <p:cNvPr id="45" name="椭圆 44"/>
            <p:cNvSpPr/>
            <p:nvPr>
              <p:custDataLst>
                <p:tags r:id="rId1"/>
              </p:custDataLst>
            </p:nvPr>
          </p:nvSpPr>
          <p:spPr>
            <a:xfrm>
              <a:off x="2848131" y="1860029"/>
              <a:ext cx="3807502" cy="380750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  <p:sp>
          <p:nvSpPr>
            <p:cNvPr id="46" name="椭圆 45"/>
            <p:cNvSpPr/>
            <p:nvPr>
              <p:custDataLst>
                <p:tags r:id="rId2"/>
              </p:custDataLst>
            </p:nvPr>
          </p:nvSpPr>
          <p:spPr>
            <a:xfrm>
              <a:off x="2936774" y="1967908"/>
              <a:ext cx="3628400" cy="362854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7561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186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2748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0373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934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55595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31210" algn="l" defTabSz="951865" rtl="0" eaLnBrk="1" latinLnBrk="0" hangingPunct="1"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/>
          </p:txBody>
        </p:sp>
      </p:grpSp>
      <p:cxnSp>
        <p:nvCxnSpPr>
          <p:cNvPr id="50" name="直接连接符 49"/>
          <p:cNvCxnSpPr/>
          <p:nvPr>
            <p:custDataLst>
              <p:tags r:id="rId3"/>
            </p:custDataLst>
          </p:nvPr>
        </p:nvCxnSpPr>
        <p:spPr>
          <a:xfrm>
            <a:off x="5791221" y="1524131"/>
            <a:ext cx="0" cy="2971595"/>
          </a:xfrm>
          <a:prstGeom prst="line">
            <a:avLst/>
          </a:prstGeom>
          <a:ln w="1905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29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3656681" y="1988514"/>
            <a:ext cx="774065" cy="1523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51865" rtl="0" eaLnBrk="0" latinLnBrk="0" hangingPunct="0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51865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931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7</a:t>
            </a:r>
            <a:endParaRPr lang="en-US" altLang="zh-CN" sz="931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33"/>
          <p:cNvSpPr txBox="1"/>
          <p:nvPr>
            <p:custDataLst>
              <p:tags r:id="rId5"/>
            </p:custDataLst>
          </p:nvPr>
        </p:nvSpPr>
        <p:spPr>
          <a:xfrm>
            <a:off x="2693593" y="3429239"/>
            <a:ext cx="2759314" cy="514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第</a:t>
            </a:r>
            <a:r>
              <a:rPr lang="en-US" altLang="zh-CN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7</a:t>
            </a:r>
            <a:r>
              <a:rPr lang="zh-CN" altLang="en-US" sz="2750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部分</a:t>
            </a:r>
            <a:endParaRPr lang="zh-CN" altLang="en-US" sz="2750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807705" y="2673431"/>
            <a:ext cx="5638411" cy="8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latin typeface="宋体" panose="02010600030101010101" pitchFamily="2" charset="-122"/>
                <a:sym typeface="宋体" panose="02010600030101010101" pitchFamily="2" charset="-122"/>
              </a:rPr>
              <a:t>辅导员介绍</a:t>
            </a:r>
            <a:endParaRPr lang="zh-CN" altLang="en-US" sz="4655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 prLst="">
                                      <p:cBhvr>
                                        <p:cTn id="2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6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0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dvAuto="0"/>
      <p:bldP spid="4" grpId="1" advAuto="0"/>
      <p:bldP spid="48" grpId="2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359785" y="332740"/>
            <a:ext cx="6727825" cy="501015"/>
          </a:xfrm>
        </p:spPr>
        <p:txBody>
          <a:bodyPr>
            <a:noAutofit/>
          </a:bodyPr>
          <a:p>
            <a:r>
              <a:rPr lang="zh-CN" altLang="en-US" sz="3600">
                <a:solidFill>
                  <a:srgbClr val="00B0F0"/>
                </a:solidFill>
              </a:rPr>
              <a:t>我们的辅导员：喻成功</a:t>
            </a:r>
            <a:endParaRPr lang="zh-CN" altLang="en-US" sz="3600">
              <a:solidFill>
                <a:srgbClr val="00B0F0"/>
              </a:solidFill>
            </a:endParaRPr>
          </a:p>
        </p:txBody>
      </p:sp>
      <p:pic>
        <p:nvPicPr>
          <p:cNvPr id="6" name="内容占位符 5" descr="喻成功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1270" y="1917065"/>
            <a:ext cx="2513330" cy="351917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sz="half" idx="2"/>
          </p:nvPr>
        </p:nvSpPr>
        <p:spPr>
          <a:xfrm>
            <a:off x="5087620" y="1560830"/>
            <a:ext cx="6509385" cy="4565650"/>
          </a:xfrm>
        </p:spPr>
        <p:txBody>
          <a:bodyPr>
            <a:normAutofit lnSpcReduction="10000"/>
          </a:bodyPr>
          <a:p>
            <a:r>
              <a:rPr lang="en-US" altLang="zh-CN" sz="2800"/>
              <a:t>    </a:t>
            </a:r>
            <a:r>
              <a:rPr lang="zh-CN" altLang="en-US" sz="3200"/>
              <a:t>喻成功，性别男，出生于</a:t>
            </a:r>
            <a:r>
              <a:rPr lang="en-US" altLang="zh-CN" sz="3200"/>
              <a:t>1998</a:t>
            </a:r>
            <a:r>
              <a:rPr lang="zh-CN" altLang="en-US" sz="3200"/>
              <a:t>年</a:t>
            </a:r>
            <a:r>
              <a:rPr lang="en-US" altLang="zh-CN" sz="3200"/>
              <a:t>8</a:t>
            </a:r>
            <a:r>
              <a:rPr lang="zh-CN" altLang="en-US" sz="3200"/>
              <a:t>月</a:t>
            </a:r>
            <a:r>
              <a:rPr lang="en-US" altLang="zh-CN" sz="3200"/>
              <a:t>28</a:t>
            </a:r>
            <a:r>
              <a:rPr lang="zh-CN" altLang="en-US" sz="3200"/>
              <a:t>日，是一名优秀积极的中国共产党党员。在教育领域进行就职，职位专职辅导员。在他的职业生涯中目前的经历暂且不多，属于年轻有为的类型，此前参与了迎新军训校庆院庆，曾在凌晨时间陪学生上救护车，富有耐心，富有爱心，也曾获得过</a:t>
            </a:r>
            <a:r>
              <a:rPr lang="en-US" altLang="zh-CN" sz="3200"/>
              <a:t>2023</a:t>
            </a:r>
            <a:r>
              <a:rPr lang="zh-CN" altLang="en-US" sz="3200"/>
              <a:t>年浙江省新岗班优秀学员，是一位负责有为的辅导员。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27305"/>
            <a:ext cx="12192000" cy="6857999"/>
          </a:xfrm>
          <a:prstGeom prst="rect">
            <a:avLst/>
          </a:prstGeom>
          <a:ln>
            <a:noFill/>
          </a:ln>
        </p:spPr>
      </p:pic>
      <p:sp>
        <p:nvSpPr>
          <p:cNvPr id="26" name="Freeform 508"/>
          <p:cNvSpPr/>
          <p:nvPr/>
        </p:nvSpPr>
        <p:spPr>
          <a:xfrm>
            <a:off x="6930772" y="1572029"/>
            <a:ext cx="90709" cy="90709"/>
          </a:xfrm>
          <a:custGeom>
            <a:avLst/>
            <a:gdLst>
              <a:gd name="T0" fmla="*/ 0 w 54"/>
              <a:gd name="T1" fmla="*/ 54 h 54"/>
              <a:gd name="T2" fmla="*/ 54 w 54"/>
              <a:gd name="T3" fmla="*/ 0 h 54"/>
              <a:gd name="T4" fmla="*/ 0 w 54"/>
              <a:gd name="T5" fmla="*/ 5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4">
                <a:moveTo>
                  <a:pt x="0" y="54"/>
                </a:moveTo>
                <a:lnTo>
                  <a:pt x="54" y="0"/>
                </a:lnTo>
                <a:lnTo>
                  <a:pt x="0" y="54"/>
                </a:lnTo>
                <a:close/>
              </a:path>
            </a:pathLst>
          </a:custGeom>
          <a:solidFill>
            <a:srgbClr val="D40F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7" name="Line 509"/>
          <p:cNvSpPr>
            <a:spLocks noChangeShapeType="1"/>
          </p:cNvSpPr>
          <p:nvPr/>
        </p:nvSpPr>
        <p:spPr>
          <a:xfrm flipV="1">
            <a:off x="6930772" y="1572029"/>
            <a:ext cx="90709" cy="90709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28" name="Line 510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0" name="文本框 5"/>
          <p:cNvSpPr txBox="1"/>
          <p:nvPr/>
        </p:nvSpPr>
        <p:spPr>
          <a:xfrm>
            <a:off x="533784" y="381212"/>
            <a:ext cx="11200627" cy="508807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4655">
                <a:solidFill>
                  <a:srgbClr val="0066CC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-</a:t>
            </a:r>
            <a:endParaRPr lang="zh-CN" altLang="en-US" sz="4655">
              <a:solidFill>
                <a:srgbClr val="0066CC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07547" y="2552076"/>
            <a:ext cx="7865806" cy="1200329"/>
          </a:xfrm>
          <a:prstGeom prst="rect">
            <a:avLst/>
          </a:prstGeom>
          <a:noFill/>
          <a:effectLst>
            <a:outerShdw blurRad="355600" dist="38100" dir="5400000" algn="t" rotWithShape="0">
              <a:prstClr val="black">
                <a:alpha val="24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sz="7200" b="1">
                <a:latin typeface="宋体" panose="02010600030101010101" pitchFamily="2" charset="-122"/>
                <a:sym typeface="宋体" panose="02010600030101010101" pitchFamily="2" charset="-122"/>
              </a:rPr>
              <a:t>THANK YOU</a:t>
            </a:r>
            <a:endParaRPr lang="zh-CN" sz="7200" b="1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76256" y="3860641"/>
            <a:ext cx="7128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sz="1600" spc="600">
                <a:latin typeface="宋体" panose="02010600030101010101" pitchFamily="2" charset="-122"/>
                <a:sym typeface="宋体" panose="02010600030101010101" pitchFamily="2" charset="-122"/>
              </a:rPr>
              <a:t>UpSpace PowerPoint Template</a:t>
            </a:r>
            <a:endParaRPr lang="zh-CN" sz="1600" spc="6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21884" y="1700671"/>
            <a:ext cx="4348232" cy="948200"/>
            <a:chOff x="3921884" y="109264"/>
            <a:chExt cx="4348232" cy="948200"/>
          </a:xfrm>
        </p:grpSpPr>
        <p:sp>
          <p:nvSpPr>
            <p:cNvPr id="18" name="TextBox 17"/>
            <p:cNvSpPr txBox="1"/>
            <p:nvPr/>
          </p:nvSpPr>
          <p:spPr>
            <a:xfrm>
              <a:off x="5481484" y="109264"/>
              <a:ext cx="122903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r>
                <a:rPr lang="zh-CN" sz="2400">
                  <a:latin typeface="宋体" panose="02010600030101010101" pitchFamily="2" charset="-122"/>
                  <a:sym typeface="宋体" panose="02010600030101010101" pitchFamily="2" charset="-122"/>
                </a:rPr>
                <a:t>20</a:t>
              </a:r>
              <a:r>
                <a:rPr lang="en-US" altLang="zh-CN" sz="2400">
                  <a:latin typeface="宋体" panose="02010600030101010101" pitchFamily="2" charset="-122"/>
                  <a:sym typeface="宋体" panose="02010600030101010101" pitchFamily="2" charset="-122"/>
                </a:rPr>
                <a:t>23</a:t>
              </a:r>
              <a:endParaRPr lang="en-US" altLang="zh-CN" sz="240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921884" y="1057464"/>
              <a:ext cx="4348232" cy="0"/>
              <a:chOff x="3790336" y="1042716"/>
              <a:chExt cx="4348232" cy="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6766968" y="1042716"/>
                <a:ext cx="13716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790336" y="1042716"/>
                <a:ext cx="13716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Line 511"/>
          <p:cNvSpPr>
            <a:spLocks noChangeShapeType="1"/>
          </p:cNvSpPr>
          <p:nvPr/>
        </p:nvSpPr>
        <p:spPr>
          <a:xfrm>
            <a:off x="6930771" y="148131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/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481320" y="4531995"/>
            <a:ext cx="5638165" cy="36258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marL="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561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186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48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0373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934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55595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31210" algn="l" defTabSz="9518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en-US" sz="1600">
                <a:latin typeface="宋体" panose="02010600030101010101" pitchFamily="2" charset="-122"/>
                <a:sym typeface="宋体" panose="02010600030101010101" pitchFamily="2" charset="-122"/>
              </a:rPr>
              <a:t>汇报人：软工</a:t>
            </a:r>
            <a:r>
              <a:rPr lang="en-US" altLang="zh-CN" sz="1600">
                <a:latin typeface="宋体" panose="02010600030101010101" pitchFamily="2" charset="-122"/>
                <a:sym typeface="宋体" panose="02010600030101010101" pitchFamily="2" charset="-122"/>
              </a:rPr>
              <a:t>23-2</a:t>
            </a:r>
            <a:r>
              <a:rPr lang="zh-CN" altLang="en-US" sz="1600">
                <a:latin typeface="宋体" panose="02010600030101010101" pitchFamily="2" charset="-122"/>
                <a:sym typeface="宋体" panose="02010600030101010101" pitchFamily="2" charset="-122"/>
              </a:rPr>
              <a:t>吴昊天、黄哲远、李意民、栾逸晨、袁潇雅</a:t>
            </a:r>
            <a:endParaRPr lang="en-US" altLang="zh-CN" sz="16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200000" advTm="7200000">
        <p:fade/>
      </p:transition>
    </mc:Choice>
    <mc:Fallback>
      <p:transition spd="med" advTm="720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 advAuto="0"/>
      <p:bldP spid="19" grpId="1" advAuto="0"/>
    </p:bldLst>
  </p:timing>
</p:sld>
</file>

<file path=ppt/tags/tag1.xml><?xml version="1.0" encoding="utf-8"?>
<p:tagLst xmlns:p="http://schemas.openxmlformats.org/presentationml/2006/main">
  <p:tag name="ID" val="545812"/>
  <p:tag name="MH" val="20150516230504"/>
  <p:tag name="MH_LIBRARY" val="CONTENTS"/>
  <p:tag name="MH_TYPE" val="OTHERS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SELECTED" val="True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commondata" val="eyJoZGlkIjoiMWIyZjRhZTkxMWVkNDBkMWU5YTdhMTNkMTcwOTg4ZT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2855</Words>
  <Application>WPS 演示</Application>
  <PresentationFormat>全屏显示(4:3)</PresentationFormat>
  <Paragraphs>272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黑体</vt:lpstr>
      <vt:lpstr>等线</vt:lpstr>
      <vt:lpstr>思源等宽 N</vt:lpstr>
      <vt:lpstr>Calibri</vt:lpstr>
      <vt:lpstr>幼圆</vt:lpstr>
      <vt:lpstr>Calibri</vt:lpstr>
      <vt:lpstr>思源黑体-超粗体 2 Heavy</vt:lpstr>
      <vt:lpstr>Arial Unicode MS</vt:lpstr>
      <vt:lpstr>思源黑体 CN Normal</vt:lpstr>
      <vt:lpstr>字魂36号-正文宋楷</vt:lpstr>
      <vt:lpstr>字魂59号-创粗黑</vt:lpstr>
      <vt:lpstr>思源黑体-粗体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我们的辅导员：喻成功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WPS_1692970433</cp:lastModifiedBy>
  <cp:revision>3</cp:revision>
  <dcterms:created xsi:type="dcterms:W3CDTF">2023-11-04T06:25:00Z</dcterms:created>
  <dcterms:modified xsi:type="dcterms:W3CDTF">2023-11-05T07:59:43Z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811816B13B4B4BF79D9F0C533F58DD7D_12</vt:lpwstr>
  </property>
  <property fmtid="{D5CDD505-2E9C-101B-9397-08002B2CF9AE}" pid="3" name="KSOProductBuildVer">
    <vt:lpwstr>2052-12.1.0.15712</vt:lpwstr>
  </property>
</Properties>
</file>